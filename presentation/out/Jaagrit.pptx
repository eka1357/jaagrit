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Good morning judges. This is Jaagrit. An offline Android driver alertness assistant built for the iQOO 15 that sits on the dashboard, estimates driver fatigue in real time, and talks you awake before sounding the alarm.</a:t>
            </a:r>
          </a:p>
          <a:p/>
          <a:p>
            <a:r>
              <a:t>[HINDI ANCHOR]:</a:t>
            </a:r>
          </a:p>
          <a:p>
            <a:r>
              <a:t>सजग रहें, सुरक्षित चलें — पूरी तरह ऑन-डिवाइस, बिना इंटरनेट।</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Drowsiness doesn't announce itself. On dark highways between midnight and dawn, alertness drains gradually. By the time a traditional buzzer screams, a truck has traveled fifty meters blind. Drivers hate loud buzzers and unplug them. We need prevention, not just panic.</a:t>
            </a:r>
          </a:p>
          <a:p/>
          <a:p>
            <a:r>
              <a:t>[HINDI ANCHOR]:</a:t>
            </a:r>
          </a:p>
          <a:p>
            <a:r>
              <a:t>नींद आने से पहले ही चेतावनी ज़रूरी है — चिल्लाने वाले अलार्म बहुत देर कर देते हैं।</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Jaagrit solves this with three principles. First, continuous on-device vision running in eighteen milliseconds per frame. Second, a graduated ladder that talks first and alarms last. And third, total privacy: zero bytes leave the phone, and photos never touch disk.</a:t>
            </a:r>
          </a:p>
          <a:p/>
          <a:p>
            <a:r>
              <a:t>[HINDI ANCHOR]:</a:t>
            </a:r>
          </a:p>
          <a:p>
            <a:r>
              <a:t>तीन सिद्धांत: तेज़ ऑन-डिवाइस विज़न, पाँच चरणों की सीढ़ी, और शत-प्रतिशत ऑफ़लाइन सुरक्षा।</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Here is the heart of Jaagrit: the graduated ladder. At level one, a conversational check. At level two, a simple cognitive question to gauge reaction speed. If eyes close for two and a half seconds, Level Three fires instantly. If there is no response, Level Four plays a family voice. After twenty seconds, Level Five sends an emergency SMS with GPS.</a:t>
            </a:r>
          </a:p>
          <a:p/>
          <a:p>
            <a:r>
              <a:t>[HINDI ANCHOR]:</a:t>
            </a:r>
          </a:p>
          <a:p>
            <a:r>
              <a:t>हल्की बातचीत से शुरू होकर, परिवार की आवाज़ और आपातकालीन एसएमएस तक।</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Let's watch it happen. When my eyes close during a fatigue event, the PERCLOS metric drops my score to thirty-five. The moment two point five seconds elapse, Level Three triggers: high-contrast red flash, max-volume alarm, and urgent Hindi voice. Tapping 'I'm Awake' or opening eyes immediately cancels the alert.</a:t>
            </a:r>
          </a:p>
          <a:p/>
          <a:p>
            <a:r>
              <a:t>[HINDI ANCHOR]:</a:t>
            </a:r>
          </a:p>
          <a:p>
            <a:r>
              <a:t>दो दशमलव पाँच सेकंड आँखें बंद — और सिस्टम तुरंत 'जागो' का अलर्ट देता है।</a:t>
            </a:r>
          </a:p>
          <a:p/>
          <a:p>
            <a:r>
              <a:t>*** [NOW SWITCH TO LIVE PHONE DEMO ON iQOO 15] ***</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Every driver has different eyes, posture, and glasses. Jaagrit runs a short calibration before driving. We take the statistical median of open and closed eyes, yielding a five-point-six times dynamic separation. We also calibrate neutral dashboard tilt, preventing false alerts when glancing at road mirrors.</a:t>
            </a:r>
          </a:p>
          <a:p/>
          <a:p>
            <a:r>
              <a:t>[HINDI ANCHOR]:</a:t>
            </a:r>
          </a:p>
          <a:p>
            <a:r>
              <a:t>हर ड्राइवर की आँखें अलग होती हैं — हमारा कैलिब्रेशन हर चेहरे के हिसाब से सीमा तय करता है।</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If a driver suffers an emergency and doesn't respond to the alarm or family voice after thirty seconds, Level Five triggers. An automated SMS with GPS coordinates is sent directly over cellular radio. It requires no mobile internet and costs pennies.</a:t>
            </a:r>
          </a:p>
          <a:p/>
          <a:p>
            <a:r>
              <a:t>[HINDI ANCHOR]:</a:t>
            </a:r>
          </a:p>
          <a:p>
            <a:r>
              <a:t>यदि चालक कोई प्रतिक्रिया नहीं देता, तो जीपीएस लोकेशन के साथ आपातकालीन संदेश तुरंत भेजा जाता है।</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Every drive is cataloged in an on-device Room database. Here you see our real test log of forty-eight drives. Jaagrit scores trip safety, visualizes the alertness curve, and generates a one-page PDF report. Fleet managers can transfer this report to their laptop in seconds using Office Kit.</a:t>
            </a:r>
          </a:p>
          <a:p/>
          <a:p>
            <a:r>
              <a:t>[HINDI ANCHOR]:</a:t>
            </a:r>
          </a:p>
          <a:p>
            <a:r>
              <a:t>यात्रा का पूरा डेटा स्थानीय डेटाबेस में सुरक्षित रहता है और बिना इंटरनेट पीडीएफ़ में एक्सपोर्ट होता है।</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True safety starts before the eyes close. At Level One and Two, Jaagrit speaks short, natural Hindi questions and simple mental arithmetic. It measures the driver's response latency. If latency doubles, fatigue is confirmed. And during loud alarms, the microphone stays locked to prevent audio distortion.</a:t>
            </a:r>
          </a:p>
          <a:p/>
          <a:p>
            <a:r>
              <a:t>[HINDI ANCHOR]:</a:t>
            </a:r>
          </a:p>
          <a:p>
            <a:r>
              <a:t>अलार्म बजाने से पहले, हल्की दिमागी बातचीत से ड्राइवर को जाग्रत रखा जाता है।</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Jaagrit was designed specifically for Indian commercial drivers. The entire interface and voice guidance toggle between English and natural Hindi. Crucially, the app requests zero internet permissions. Drivers don't have to worry about surveillance, cellular data consumption, or privacy leaks.</a:t>
            </a:r>
          </a:p>
          <a:p/>
          <a:p>
            <a:r>
              <a:t>[HINDI ANCHOR]:</a:t>
            </a:r>
          </a:p>
          <a:p>
            <a:r>
              <a:t>पूरी तरह हिंदी और अंग्रेज़ी में, बिना किसी सर्वर या इंटरनेट की निर्भरता के।</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Under the hood, Jaagrit separates vision from Android lifecycle. Our pure-Kotlin fatigue engine has zero Android imports, tested across one hundred ninety-eight unit tests. During an independent architectural audit, we caught and fixed a subtle clock-drift bug with dedicated regression tests. This system is rock-solid.</a:t>
            </a:r>
          </a:p>
          <a:p/>
          <a:p>
            <a:r>
              <a:t>[HINDI ANCHOR]:</a:t>
            </a:r>
          </a:p>
          <a:p>
            <a:r>
              <a:t>स्वतंत्र कोड ऑडिट और एक सौ अट्ठानवे यूनिट टेस्ट्स द्वारा प्रमाणित आर्किटेक्चर।</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We believe in engineering honesty. Jaagrit estimates alertness; it does not claim medical diagnosis. Dark sunglasses and pitch-black cabins reduce eye tracking accuracy, falling back to head droop. Our next milestone moves the pipeline into a Foreground Service to support Google Maps navigation.</a:t>
            </a:r>
          </a:p>
          <a:p/>
          <a:p>
            <a:r>
              <a:t>[HINDI ANCHOR]:</a:t>
            </a:r>
          </a:p>
          <a:p>
            <a:r>
              <a:t>हम सतर्कता का अनुमान लगाते हैं, कोई मेडिकल दावा नहीं करते — ईमानदारी ही हमारी ताक़त है।</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Commercial drivers are the backbone of our economy. They deserve safety technology that works with them, respects their privacy, and protects them on every dark highway. That is Jaagrit. Thank you, and I look forward to your questions.</a:t>
            </a:r>
          </a:p>
          <a:p/>
          <a:p>
            <a:r>
              <a:t>[HINDI ANCHOR]:</a:t>
            </a:r>
          </a:p>
          <a:p>
            <a:r>
              <a:t>सजग रहें, सुरक्षित चलें। धन्यवाद!</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Q&amp;A backup on camera robustness, glasses, and night illumination.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Q&amp;A backup on why on-device processing was strictly chosen over cloud APIs.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Q&amp;A backup proving why the app reduces distraction rather than causing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Q&amp;A backup on commercial truck geometry vs motorcycle helmet constraints.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 - ~40 words]:</a:t>
            </a:r>
          </a:p>
          <a:p>
            <a:r>
              <a:t>Q&amp;A backup demonstrating that the app never crashes or degrades core safety when SIM is missing.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[01 / 18]</a:t>
            </a:r>
          </a:p>
        </p:txBody>
      </p:sp>
      <p:sp>
        <p:nvSpPr>
          <p:cNvPr id="4" name="TextBox 3"/>
          <p:cNvSpPr txBox="1"/>
          <p:nvPr/>
        </p:nvSpPr>
        <p:spPr>
          <a:xfrm>
            <a:off x="731520" y="1188720"/>
            <a:ext cx="7315200" cy="3566160"/>
          </a:xfrm>
          <a:prstGeom prst="rect">
            <a:avLst/>
          </a:prstGeom>
          <a:noFill/>
        </p:spPr>
        <p:txBody>
          <a:bodyPr wrap="square" lIns="0" tIns="0" rIns="0" bIns="0">
            <a:spAutoFit/>
          </a:bodyPr>
          <a:lstStyle/>
          <a:p>
            <a:r>
              <a:rPr sz="5600" b="1">
                <a:solidFill>
                  <a:srgbClr val="F4F0E6"/>
                </a:solidFill>
                <a:latin typeface="Mukta"/>
              </a:rPr>
              <a:t>JAAGRIT  </a:t>
            </a:r>
            <a:r>
              <a:rPr sz="4600" b="1">
                <a:solidFill>
                  <a:srgbClr val="B9EE45"/>
                </a:solidFill>
                <a:latin typeface="Mukta"/>
              </a:rPr>
              <a:t>जागृत</a:t>
            </a:r>
          </a:p>
          <a:p>
            <a:pPr>
              <a:spcBef>
                <a:spcPts val="1800"/>
              </a:spcBef>
            </a:pPr>
            <a:r>
              <a:rPr sz="2600" b="1">
                <a:solidFill>
                  <a:srgbClr val="F4F0E6"/>
                </a:solidFill>
                <a:latin typeface="Mukta"/>
              </a:rPr>
              <a:t>Engages before it alarms.
Completely offline.</a:t>
            </a:r>
          </a:p>
          <a:p>
            <a:pPr>
              <a:spcBef>
                <a:spcPts val="1600"/>
              </a:spcBef>
            </a:pPr>
            <a:r>
              <a:rPr sz="1600">
                <a:solidFill>
                  <a:srgbClr val="66776E"/>
                </a:solidFill>
                <a:latin typeface="Mukta"/>
              </a:rPr>
              <a:t>Real-time driver alertness assistant running locally on the iQOO 15.</a:t>
            </a:r>
          </a:p>
        </p:txBody>
      </p:sp>
      <p:sp>
        <p:nvSpPr>
          <p:cNvPr id="5" name="Rounded Rectangle 4" descr="Content card container" title="Content card container"/>
          <p:cNvSpPr/>
          <p:nvPr/>
        </p:nvSpPr>
        <p:spPr>
          <a:xfrm>
            <a:off x="731520" y="4983480"/>
            <a:ext cx="2011680" cy="420624"/>
          </a:xfrm>
          <a:prstGeom prst="roundRect">
            <a:avLst/>
          </a:prstGeom>
          <a:solidFill>
            <a:srgbClr val="13221B"/>
          </a:solidFill>
          <a:ln w="19050">
            <a:solidFill>
              <a:srgbClr val="283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010912"/>
            <a:ext cx="2011680" cy="365760"/>
          </a:xfrm>
          <a:prstGeom prst="rect">
            <a:avLst/>
          </a:prstGeom>
          <a:noFill/>
        </p:spPr>
        <p:txBody>
          <a:bodyPr wrap="none">
            <a:spAutoFit/>
          </a:bodyPr>
          <a:lstStyle/>
          <a:p>
            <a:pPr algn="ctr"/>
            <a:r>
              <a:rPr sz="1200" b="1">
                <a:solidFill>
                  <a:srgbClr val="B9EE45"/>
                </a:solidFill>
                <a:latin typeface="Mukta"/>
              </a:rPr>
              <a:t>100% OFFLINE</a:t>
            </a:r>
          </a:p>
        </p:txBody>
      </p:sp>
      <p:sp>
        <p:nvSpPr>
          <p:cNvPr id="7" name="Rounded Rectangle 6" descr="Content card container" title="Content card container"/>
          <p:cNvSpPr/>
          <p:nvPr/>
        </p:nvSpPr>
        <p:spPr>
          <a:xfrm>
            <a:off x="2880360" y="4983480"/>
            <a:ext cx="2011680" cy="420624"/>
          </a:xfrm>
          <a:prstGeom prst="roundRect">
            <a:avLst/>
          </a:prstGeom>
          <a:solidFill>
            <a:srgbClr val="13221B"/>
          </a:solidFill>
          <a:ln w="19050">
            <a:solidFill>
              <a:srgbClr val="283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5010912"/>
            <a:ext cx="2011680" cy="365760"/>
          </a:xfrm>
          <a:prstGeom prst="rect">
            <a:avLst/>
          </a:prstGeom>
          <a:noFill/>
        </p:spPr>
        <p:txBody>
          <a:bodyPr wrap="none">
            <a:spAutoFit/>
          </a:bodyPr>
          <a:lstStyle/>
          <a:p>
            <a:pPr algn="ctr"/>
            <a:r>
              <a:rPr sz="1200" b="1">
                <a:solidFill>
                  <a:srgbClr val="F4F0E6"/>
                </a:solidFill>
                <a:latin typeface="Mukta"/>
              </a:rPr>
              <a:t>18 ms VISION</a:t>
            </a:r>
          </a:p>
        </p:txBody>
      </p:sp>
      <p:sp>
        <p:nvSpPr>
          <p:cNvPr id="9" name="Rounded Rectangle 8" descr="Content card container" title="Content card container"/>
          <p:cNvSpPr/>
          <p:nvPr/>
        </p:nvSpPr>
        <p:spPr>
          <a:xfrm>
            <a:off x="5029200" y="4983480"/>
            <a:ext cx="2011680" cy="420624"/>
          </a:xfrm>
          <a:prstGeom prst="roundRect">
            <a:avLst/>
          </a:prstGeom>
          <a:solidFill>
            <a:srgbClr val="13221B"/>
          </a:solidFill>
          <a:ln w="19050">
            <a:solidFill>
              <a:srgbClr val="283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5010912"/>
            <a:ext cx="2011680" cy="365760"/>
          </a:xfrm>
          <a:prstGeom prst="rect">
            <a:avLst/>
          </a:prstGeom>
          <a:noFill/>
        </p:spPr>
        <p:txBody>
          <a:bodyPr wrap="none">
            <a:spAutoFit/>
          </a:bodyPr>
          <a:lstStyle/>
          <a:p>
            <a:pPr algn="ctr"/>
            <a:r>
              <a:rPr sz="1200" b="1">
                <a:solidFill>
                  <a:srgbClr val="F4F0E6"/>
                </a:solidFill>
                <a:latin typeface="Mukta"/>
              </a:rPr>
              <a:t>GRADUATED LADDER</a:t>
            </a:r>
          </a:p>
        </p:txBody>
      </p:sp>
      <p:sp>
        <p:nvSpPr>
          <p:cNvPr id="11" name="Rounded Rectangle 10" descr="Smartphone chassis frame" title="Smartphone chassis frame"/>
          <p:cNvSpPr/>
          <p:nvPr/>
        </p:nvSpPr>
        <p:spPr>
          <a:xfrm>
            <a:off x="8302752" y="896112"/>
            <a:ext cx="2463892" cy="5157216"/>
          </a:xfrm>
          <a:prstGeom prst="roundRect">
            <a:avLst/>
          </a:prstGeom>
          <a:solidFill>
            <a:srgbClr val="111914"/>
          </a:solidFill>
          <a:ln w="25400">
            <a:solidFill>
              <a:srgbClr val="283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68938" y="950976"/>
            <a:ext cx="731520" cy="36576"/>
          </a:xfrm>
          <a:prstGeom prst="roundRect">
            <a:avLst/>
          </a:prstGeom>
          <a:solidFill>
            <a:srgbClr val="283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aagrit Home Screen" title="Jaagrit Home Screen"/>
          <p:cNvPicPr>
            <a:picLocks noChangeAspect="1"/>
          </p:cNvPicPr>
          <p:nvPr/>
        </p:nvPicPr>
        <p:blipFill>
          <a:blip r:embed="rId2"/>
          <a:stretch>
            <a:fillRect/>
          </a:stretch>
        </p:blipFill>
        <p:spPr>
          <a:xfrm>
            <a:off x="8412480" y="1005840"/>
            <a:ext cx="2244436" cy="4937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B9EE45"/>
                </a:solidFill>
                <a:latin typeface="Mukta"/>
              </a:rPr>
              <a:t>THE REALITY OF THE ROAD
</a:t>
            </a:r>
            <a:r>
              <a:rPr sz="3200" b="1">
                <a:solidFill>
                  <a:srgbClr val="F4F0E6"/>
                </a:solidFill>
                <a:latin typeface="Mukta"/>
              </a:rPr>
              <a:t>Drowsiness does not announce itself — it arrives in silence.</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[02 / 18]</a:t>
            </a:r>
          </a:p>
        </p:txBody>
      </p:sp>
      <p:sp>
        <p:nvSpPr>
          <p:cNvPr id="5" name="Rounded Rectangle 4" descr="Content card container" title="Content card container"/>
          <p:cNvSpPr/>
          <p:nvPr/>
        </p:nvSpPr>
        <p:spPr>
          <a:xfrm>
            <a:off x="731520" y="1783080"/>
            <a:ext cx="3328416" cy="4114800"/>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57400"/>
            <a:ext cx="2779776" cy="3566160"/>
          </a:xfrm>
          <a:prstGeom prst="rect">
            <a:avLst/>
          </a:prstGeom>
          <a:noFill/>
        </p:spPr>
        <p:txBody>
          <a:bodyPr wrap="square">
            <a:spAutoFit/>
          </a:bodyPr>
          <a:lstStyle/>
          <a:p>
            <a:r>
              <a:rPr sz="2800" b="1">
                <a:solidFill>
                  <a:srgbClr val="B9EE45"/>
                </a:solidFill>
                <a:latin typeface="Mukta"/>
              </a:rPr>
              <a:t>01</a:t>
            </a:r>
          </a:p>
          <a:p>
            <a:pPr>
              <a:spcBef>
                <a:spcPts val="1400"/>
              </a:spcBef>
            </a:pPr>
            <a:r>
              <a:rPr sz="2000" b="1">
                <a:solidFill>
                  <a:srgbClr val="F4F0E6"/>
                </a:solidFill>
                <a:latin typeface="Mukta"/>
              </a:rPr>
              <a:t>Micro-sleep is stealthy</a:t>
            </a:r>
          </a:p>
          <a:p>
            <a:pPr>
              <a:spcBef>
                <a:spcPts val="1200"/>
              </a:spcBef>
            </a:pPr>
            <a:r>
              <a:rPr sz="1400">
                <a:solidFill>
                  <a:srgbClr val="66776E"/>
                </a:solidFill>
                <a:latin typeface="Mukta"/>
              </a:rPr>
              <a:t>Fatigue accumulates quietly over hours. A driver doesn't realize their alertness has eroded until the first involuntary 2-second eye closure.</a:t>
            </a:r>
          </a:p>
        </p:txBody>
      </p:sp>
      <p:sp>
        <p:nvSpPr>
          <p:cNvPr id="7" name="Rounded Rectangle 6" descr="Content card container" title="Content card container"/>
          <p:cNvSpPr/>
          <p:nvPr/>
        </p:nvSpPr>
        <p:spPr>
          <a:xfrm>
            <a:off x="4343400" y="1783080"/>
            <a:ext cx="3328416" cy="4114800"/>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057400"/>
            <a:ext cx="2779776" cy="3566160"/>
          </a:xfrm>
          <a:prstGeom prst="rect">
            <a:avLst/>
          </a:prstGeom>
          <a:noFill/>
        </p:spPr>
        <p:txBody>
          <a:bodyPr wrap="square">
            <a:spAutoFit/>
          </a:bodyPr>
          <a:lstStyle/>
          <a:p>
            <a:r>
              <a:rPr sz="2800" b="1">
                <a:solidFill>
                  <a:srgbClr val="B9EE45"/>
                </a:solidFill>
                <a:latin typeface="Mukta"/>
              </a:rPr>
              <a:t>02</a:t>
            </a:r>
          </a:p>
          <a:p>
            <a:pPr>
              <a:spcBef>
                <a:spcPts val="1400"/>
              </a:spcBef>
            </a:pPr>
            <a:r>
              <a:rPr sz="2000" b="1">
                <a:solidFill>
                  <a:srgbClr val="F4F0E6"/>
                </a:solidFill>
                <a:latin typeface="Mukta"/>
              </a:rPr>
              <a:t>Buzzers trigger too late</a:t>
            </a:r>
          </a:p>
          <a:p>
            <a:pPr>
              <a:spcBef>
                <a:spcPts val="1200"/>
              </a:spcBef>
            </a:pPr>
            <a:r>
              <a:rPr sz="1400">
                <a:solidFill>
                  <a:srgbClr val="66776E"/>
                </a:solidFill>
                <a:latin typeface="Mukta"/>
              </a:rPr>
              <a:t>Traditional cab hardware screams only after a driver is asleep. The shock causes panic, road swerving, and drivers routinely unplug them.</a:t>
            </a:r>
          </a:p>
        </p:txBody>
      </p:sp>
      <p:sp>
        <p:nvSpPr>
          <p:cNvPr id="9" name="Rounded Rectangle 8" descr="Content card container" title="Content card container"/>
          <p:cNvSpPr/>
          <p:nvPr/>
        </p:nvSpPr>
        <p:spPr>
          <a:xfrm>
            <a:off x="7955280" y="1783080"/>
            <a:ext cx="3328416" cy="4114800"/>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057400"/>
            <a:ext cx="2779776" cy="3566160"/>
          </a:xfrm>
          <a:prstGeom prst="rect">
            <a:avLst/>
          </a:prstGeom>
          <a:noFill/>
        </p:spPr>
        <p:txBody>
          <a:bodyPr wrap="square">
            <a:spAutoFit/>
          </a:bodyPr>
          <a:lstStyle/>
          <a:p>
            <a:r>
              <a:rPr sz="2800" b="1">
                <a:solidFill>
                  <a:srgbClr val="B9EE45"/>
                </a:solidFill>
                <a:latin typeface="Mukta"/>
              </a:rPr>
              <a:t>03</a:t>
            </a:r>
          </a:p>
          <a:p>
            <a:pPr>
              <a:spcBef>
                <a:spcPts val="1400"/>
              </a:spcBef>
            </a:pPr>
            <a:r>
              <a:rPr sz="2000" b="1">
                <a:solidFill>
                  <a:srgbClr val="F4F0E6"/>
                </a:solidFill>
                <a:latin typeface="Mukta"/>
              </a:rPr>
              <a:t>Highway blind spots</a:t>
            </a:r>
          </a:p>
          <a:p>
            <a:pPr>
              <a:spcBef>
                <a:spcPts val="1200"/>
              </a:spcBef>
            </a:pPr>
            <a:r>
              <a:rPr sz="1400">
                <a:solidFill>
                  <a:srgbClr val="66776E"/>
                </a:solidFill>
                <a:latin typeface="Mukta"/>
              </a:rPr>
              <a:t>Cloud-dependent fleet monitoring fails precisely when needed most: remote highway corridors with zero cellular data connectivity.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THE JAAGRIT SOLUTION
</a:t>
            </a:r>
            <a:r>
              <a:rPr sz="3200" b="1">
                <a:solidFill>
                  <a:srgbClr val="18392B"/>
                </a:solidFill>
                <a:latin typeface="Mukta"/>
              </a:rPr>
              <a:t>Three pillars that turn an everyday phone into a guardian.</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[03 / 18]</a:t>
            </a:r>
          </a:p>
        </p:txBody>
      </p:sp>
      <p:sp>
        <p:nvSpPr>
          <p:cNvPr id="5" name="Rounded Rectangle 4" descr="Content card container" title="Content card container"/>
          <p:cNvSpPr/>
          <p:nvPr/>
        </p:nvSpPr>
        <p:spPr>
          <a:xfrm>
            <a:off x="731520" y="1783080"/>
            <a:ext cx="3328416" cy="411480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57400"/>
            <a:ext cx="2779776" cy="3566160"/>
          </a:xfrm>
          <a:prstGeom prst="rect">
            <a:avLst/>
          </a:prstGeom>
          <a:noFill/>
        </p:spPr>
        <p:txBody>
          <a:bodyPr wrap="square">
            <a:spAutoFit/>
          </a:bodyPr>
          <a:lstStyle/>
          <a:p>
            <a:r>
              <a:rPr sz="1300" b="1">
                <a:solidFill>
                  <a:srgbClr val="18392B"/>
                </a:solidFill>
                <a:latin typeface="Mukta"/>
              </a:rPr>
              <a:t>PILLAR 1</a:t>
            </a:r>
          </a:p>
          <a:p>
            <a:pPr>
              <a:spcBef>
                <a:spcPts val="800"/>
              </a:spcBef>
            </a:pPr>
            <a:r>
              <a:rPr sz="1800" b="1">
                <a:solidFill>
                  <a:srgbClr val="18392B"/>
                </a:solidFill>
                <a:latin typeface="Mukta"/>
              </a:rPr>
              <a:t>Continuous Vision (18 ms)</a:t>
            </a:r>
          </a:p>
          <a:p>
            <a:pPr>
              <a:spcBef>
                <a:spcPts val="1200"/>
              </a:spcBef>
            </a:pPr>
            <a:r>
              <a:rPr sz="1400">
                <a:solidFill>
                  <a:srgbClr val="44554C"/>
                </a:solidFill>
                <a:latin typeface="Mukta"/>
              </a:rPr>
              <a:t>Tracks Eye Aspect Ratio (EAR) and head posture at 24.8 FPS directly on the phone's CPU, without network latency or external sensors.</a:t>
            </a:r>
          </a:p>
        </p:txBody>
      </p:sp>
      <p:sp>
        <p:nvSpPr>
          <p:cNvPr id="7" name="Rounded Rectangle 6" descr="Content card container" title="Content card container"/>
          <p:cNvSpPr/>
          <p:nvPr/>
        </p:nvSpPr>
        <p:spPr>
          <a:xfrm>
            <a:off x="4343400" y="1783080"/>
            <a:ext cx="3328416" cy="411480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057400"/>
            <a:ext cx="2779776" cy="3566160"/>
          </a:xfrm>
          <a:prstGeom prst="rect">
            <a:avLst/>
          </a:prstGeom>
          <a:noFill/>
        </p:spPr>
        <p:txBody>
          <a:bodyPr wrap="square">
            <a:spAutoFit/>
          </a:bodyPr>
          <a:lstStyle/>
          <a:p>
            <a:r>
              <a:rPr sz="1300" b="1">
                <a:solidFill>
                  <a:srgbClr val="18392B"/>
                </a:solidFill>
                <a:latin typeface="Mukta"/>
              </a:rPr>
              <a:t>PILLAR 2</a:t>
            </a:r>
          </a:p>
          <a:p>
            <a:pPr>
              <a:spcBef>
                <a:spcPts val="800"/>
              </a:spcBef>
            </a:pPr>
            <a:r>
              <a:rPr sz="1800" b="1">
                <a:solidFill>
                  <a:srgbClr val="18392B"/>
                </a:solidFill>
                <a:latin typeface="Mukta"/>
              </a:rPr>
              <a:t>Graduated Ladder (L1–L5)</a:t>
            </a:r>
          </a:p>
          <a:p>
            <a:pPr>
              <a:spcBef>
                <a:spcPts val="1200"/>
              </a:spcBef>
            </a:pPr>
            <a:r>
              <a:rPr sz="1400">
                <a:solidFill>
                  <a:srgbClr val="44554C"/>
                </a:solidFill>
                <a:latin typeface="Mukta"/>
              </a:rPr>
              <a:t>Engages early with friendly spoken check-ins while fatigue builds. Reserves high-decibel alarms, family audio, and SMS for true emergencies.</a:t>
            </a:r>
          </a:p>
        </p:txBody>
      </p:sp>
      <p:sp>
        <p:nvSpPr>
          <p:cNvPr id="9" name="Rounded Rectangle 8" descr="Content card container" title="Content card container"/>
          <p:cNvSpPr/>
          <p:nvPr/>
        </p:nvSpPr>
        <p:spPr>
          <a:xfrm>
            <a:off x="7955280" y="1783080"/>
            <a:ext cx="3328416" cy="411480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057400"/>
            <a:ext cx="2779776" cy="3566160"/>
          </a:xfrm>
          <a:prstGeom prst="rect">
            <a:avLst/>
          </a:prstGeom>
          <a:noFill/>
        </p:spPr>
        <p:txBody>
          <a:bodyPr wrap="square">
            <a:spAutoFit/>
          </a:bodyPr>
          <a:lstStyle/>
          <a:p>
            <a:r>
              <a:rPr sz="1300" b="1">
                <a:solidFill>
                  <a:srgbClr val="18392B"/>
                </a:solidFill>
                <a:latin typeface="Mukta"/>
              </a:rPr>
              <a:t>PILLAR 3</a:t>
            </a:r>
          </a:p>
          <a:p>
            <a:pPr>
              <a:spcBef>
                <a:spcPts val="800"/>
              </a:spcBef>
            </a:pPr>
            <a:r>
              <a:rPr sz="1800" b="1">
                <a:solidFill>
                  <a:srgbClr val="18392B"/>
                </a:solidFill>
                <a:latin typeface="Mukta"/>
              </a:rPr>
              <a:t>Zero-Cloud Privacy (0 Bytes)</a:t>
            </a:r>
          </a:p>
          <a:p>
            <a:pPr>
              <a:spcBef>
                <a:spcPts val="1200"/>
              </a:spcBef>
            </a:pPr>
            <a:r>
              <a:rPr sz="1400">
                <a:solidFill>
                  <a:srgbClr val="44554C"/>
                </a:solidFill>
                <a:latin typeface="Mukta"/>
              </a:rPr>
              <a:t>100% on-device operation. No camera frames or voice recordings ever touch storage or the cloud. Tested in complete airplane mode.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7132320" cy="1234440"/>
          </a:xfrm>
          <a:prstGeom prst="rect">
            <a:avLst/>
          </a:prstGeom>
          <a:noFill/>
        </p:spPr>
        <p:txBody>
          <a:bodyPr wrap="square" lIns="0" tIns="0" rIns="0" bIns="0">
            <a:spAutoFit/>
          </a:bodyPr>
          <a:lstStyle/>
          <a:p>
            <a:pPr>
              <a:spcAft>
                <a:spcPts val="200"/>
              </a:spcAft>
            </a:pPr>
            <a:r>
              <a:rPr sz="1300" b="1">
                <a:solidFill>
                  <a:srgbClr val="B9EE45"/>
                </a:solidFill>
                <a:latin typeface="Mukta"/>
              </a:rPr>
              <a:t>GRADUATED ESCALATION
</a:t>
            </a:r>
            <a:r>
              <a:rPr sz="3000" b="1">
                <a:solidFill>
                  <a:srgbClr val="F4F0E6"/>
                </a:solidFill>
                <a:latin typeface="Mukta"/>
              </a:rPr>
              <a:t>A five-stage intervention ladder that steps in gradually.</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[04 / 18]</a:t>
            </a:r>
          </a:p>
        </p:txBody>
      </p:sp>
      <p:sp>
        <p:nvSpPr>
          <p:cNvPr id="5" name="Rounded Rectangle 4" descr="Content card container" title="Content card container"/>
          <p:cNvSpPr/>
          <p:nvPr/>
        </p:nvSpPr>
        <p:spPr>
          <a:xfrm>
            <a:off x="731520" y="1783080"/>
            <a:ext cx="6858000" cy="786384"/>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descr="Content card container" title="Content card container"/>
          <p:cNvSpPr/>
          <p:nvPr/>
        </p:nvSpPr>
        <p:spPr>
          <a:xfrm>
            <a:off x="914400" y="1947672"/>
            <a:ext cx="640080" cy="438912"/>
          </a:xfrm>
          <a:prstGeom prst="roundRect">
            <a:avLst/>
          </a:prstGeom>
          <a:solidFill>
            <a:srgbClr val="B9E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640080" cy="365760"/>
          </a:xfrm>
          <a:prstGeom prst="rect">
            <a:avLst/>
          </a:prstGeom>
          <a:noFill/>
        </p:spPr>
        <p:txBody>
          <a:bodyPr wrap="none">
            <a:spAutoFit/>
          </a:bodyPr>
          <a:lstStyle/>
          <a:p>
            <a:pPr algn="ctr"/>
            <a:r>
              <a:rPr sz="1400" b="1">
                <a:solidFill>
                  <a:srgbClr val="0A120E"/>
                </a:solidFill>
                <a:latin typeface="Mukta"/>
              </a:rPr>
              <a:t>L1</a:t>
            </a:r>
          </a:p>
        </p:txBody>
      </p:sp>
      <p:sp>
        <p:nvSpPr>
          <p:cNvPr id="8" name="TextBox 7"/>
          <p:cNvSpPr txBox="1"/>
          <p:nvPr/>
        </p:nvSpPr>
        <p:spPr>
          <a:xfrm>
            <a:off x="1691640" y="1874520"/>
            <a:ext cx="5760720" cy="594360"/>
          </a:xfrm>
          <a:prstGeom prst="rect">
            <a:avLst/>
          </a:prstGeom>
          <a:noFill/>
        </p:spPr>
        <p:txBody>
          <a:bodyPr wrap="square">
            <a:spAutoFit/>
          </a:bodyPr>
          <a:lstStyle/>
          <a:p>
            <a:r>
              <a:rPr sz="1400" b="1">
                <a:solidFill>
                  <a:srgbClr val="F4F0E6"/>
                </a:solidFill>
                <a:latin typeface="Mukta"/>
              </a:rPr>
              <a:t>Early Warning: </a:t>
            </a:r>
            <a:r>
              <a:rPr sz="1200">
                <a:solidFill>
                  <a:srgbClr val="B9EE45"/>
                </a:solidFill>
                <a:latin typeface="Mukta"/>
              </a:rPr>
              <a:t>Blink rate +20% or 2 yawns  →  </a:t>
            </a:r>
            <a:r>
              <a:rPr sz="1200">
                <a:solidFill>
                  <a:srgbClr val="66776E"/>
                </a:solidFill>
                <a:latin typeface="Mukta"/>
              </a:rPr>
              <a:t>Spoken friendly question (TTS Hindi)</a:t>
            </a:r>
          </a:p>
        </p:txBody>
      </p:sp>
      <p:sp>
        <p:nvSpPr>
          <p:cNvPr id="9" name="Rounded Rectangle 8" descr="Content card container" title="Content card container"/>
          <p:cNvSpPr/>
          <p:nvPr/>
        </p:nvSpPr>
        <p:spPr>
          <a:xfrm>
            <a:off x="731520" y="2651760"/>
            <a:ext cx="6858000" cy="786384"/>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descr="Content card container" title="Content card container"/>
          <p:cNvSpPr/>
          <p:nvPr/>
        </p:nvSpPr>
        <p:spPr>
          <a:xfrm>
            <a:off x="914400" y="2816352"/>
            <a:ext cx="640080" cy="4389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34640"/>
            <a:ext cx="640080" cy="365760"/>
          </a:xfrm>
          <a:prstGeom prst="rect">
            <a:avLst/>
          </a:prstGeom>
          <a:noFill/>
        </p:spPr>
        <p:txBody>
          <a:bodyPr wrap="none">
            <a:spAutoFit/>
          </a:bodyPr>
          <a:lstStyle/>
          <a:p>
            <a:pPr algn="ctr"/>
            <a:r>
              <a:rPr sz="1400" b="1">
                <a:solidFill>
                  <a:srgbClr val="0A120E"/>
                </a:solidFill>
                <a:latin typeface="Mukta"/>
              </a:rPr>
              <a:t>L2</a:t>
            </a:r>
          </a:p>
        </p:txBody>
      </p:sp>
      <p:sp>
        <p:nvSpPr>
          <p:cNvPr id="12" name="TextBox 11"/>
          <p:cNvSpPr txBox="1"/>
          <p:nvPr/>
        </p:nvSpPr>
        <p:spPr>
          <a:xfrm>
            <a:off x="1691640" y="2743200"/>
            <a:ext cx="5760720" cy="594360"/>
          </a:xfrm>
          <a:prstGeom prst="rect">
            <a:avLst/>
          </a:prstGeom>
          <a:noFill/>
        </p:spPr>
        <p:txBody>
          <a:bodyPr wrap="square">
            <a:spAutoFit/>
          </a:bodyPr>
          <a:lstStyle/>
          <a:p>
            <a:r>
              <a:rPr sz="1400" b="1">
                <a:solidFill>
                  <a:srgbClr val="F4F0E6"/>
                </a:solidFill>
                <a:latin typeface="Mukta"/>
              </a:rPr>
              <a:t>Active Engagement: </a:t>
            </a:r>
            <a:r>
              <a:rPr sz="1200">
                <a:solidFill>
                  <a:srgbClr val="B9EE45"/>
                </a:solidFill>
                <a:latin typeface="Mukta"/>
              </a:rPr>
              <a:t>PERCLOS ≥ 0.12 (60 s)  →  </a:t>
            </a:r>
            <a:r>
              <a:rPr sz="1200">
                <a:solidFill>
                  <a:srgbClr val="66776E"/>
                </a:solidFill>
                <a:latin typeface="Mukta"/>
              </a:rPr>
              <a:t>Spoken cognitive question; latency tracked</a:t>
            </a:r>
          </a:p>
        </p:txBody>
      </p:sp>
      <p:sp>
        <p:nvSpPr>
          <p:cNvPr id="13" name="Rounded Rectangle 12" descr="Content card container" title="Content card container"/>
          <p:cNvSpPr/>
          <p:nvPr/>
        </p:nvSpPr>
        <p:spPr>
          <a:xfrm>
            <a:off x="731520" y="3520440"/>
            <a:ext cx="6858000" cy="786384"/>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descr="Content card container" title="Content card container"/>
          <p:cNvSpPr/>
          <p:nvPr/>
        </p:nvSpPr>
        <p:spPr>
          <a:xfrm>
            <a:off x="914400" y="3685032"/>
            <a:ext cx="640080" cy="438912"/>
          </a:xfrm>
          <a:prstGeom prst="round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03320"/>
            <a:ext cx="640080" cy="365760"/>
          </a:xfrm>
          <a:prstGeom prst="rect">
            <a:avLst/>
          </a:prstGeom>
          <a:noFill/>
        </p:spPr>
        <p:txBody>
          <a:bodyPr wrap="none">
            <a:spAutoFit/>
          </a:bodyPr>
          <a:lstStyle/>
          <a:p>
            <a:pPr algn="ctr"/>
            <a:r>
              <a:rPr sz="1400" b="1">
                <a:solidFill>
                  <a:srgbClr val="FFFFFF"/>
                </a:solidFill>
                <a:latin typeface="Mukta"/>
              </a:rPr>
              <a:t>L3</a:t>
            </a:r>
          </a:p>
        </p:txBody>
      </p:sp>
      <p:sp>
        <p:nvSpPr>
          <p:cNvPr id="16" name="TextBox 15"/>
          <p:cNvSpPr txBox="1"/>
          <p:nvPr/>
        </p:nvSpPr>
        <p:spPr>
          <a:xfrm>
            <a:off x="1691640" y="3611880"/>
            <a:ext cx="5760720" cy="594360"/>
          </a:xfrm>
          <a:prstGeom prst="rect">
            <a:avLst/>
          </a:prstGeom>
          <a:noFill/>
        </p:spPr>
        <p:txBody>
          <a:bodyPr wrap="square">
            <a:spAutoFit/>
          </a:bodyPr>
          <a:lstStyle/>
          <a:p>
            <a:r>
              <a:rPr sz="1400" b="1">
                <a:solidFill>
                  <a:srgbClr val="F4F0E6"/>
                </a:solidFill>
                <a:latin typeface="Mukta"/>
              </a:rPr>
              <a:t>Direct Alert: </a:t>
            </a:r>
            <a:r>
              <a:rPr sz="1200">
                <a:solidFill>
                  <a:srgbClr val="B9EE45"/>
                </a:solidFill>
                <a:latin typeface="Mukta"/>
              </a:rPr>
              <a:t>Eyes closed ≥ 2.5 s  →  </a:t>
            </a:r>
            <a:r>
              <a:rPr sz="1200">
                <a:solidFill>
                  <a:srgbClr val="66776E"/>
                </a:solidFill>
                <a:latin typeface="Mukta"/>
              </a:rPr>
              <a:t>Loud siren + urgent Hindi phrase + vibration</a:t>
            </a:r>
          </a:p>
        </p:txBody>
      </p:sp>
      <p:sp>
        <p:nvSpPr>
          <p:cNvPr id="17" name="Rounded Rectangle 16" descr="Content card container" title="Content card container"/>
          <p:cNvSpPr/>
          <p:nvPr/>
        </p:nvSpPr>
        <p:spPr>
          <a:xfrm>
            <a:off x="731520" y="4389120"/>
            <a:ext cx="6858000" cy="786384"/>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descr="Content card container" title="Content card container"/>
          <p:cNvSpPr/>
          <p:nvPr/>
        </p:nvSpPr>
        <p:spPr>
          <a:xfrm>
            <a:off x="914400" y="4553712"/>
            <a:ext cx="640080" cy="438912"/>
          </a:xfrm>
          <a:prstGeom prst="round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72000"/>
            <a:ext cx="640080" cy="365760"/>
          </a:xfrm>
          <a:prstGeom prst="rect">
            <a:avLst/>
          </a:prstGeom>
          <a:noFill/>
        </p:spPr>
        <p:txBody>
          <a:bodyPr wrap="none">
            <a:spAutoFit/>
          </a:bodyPr>
          <a:lstStyle/>
          <a:p>
            <a:pPr algn="ctr"/>
            <a:r>
              <a:rPr sz="1400" b="1">
                <a:solidFill>
                  <a:srgbClr val="FFFFFF"/>
                </a:solidFill>
                <a:latin typeface="Mukta"/>
              </a:rPr>
              <a:t>L4</a:t>
            </a:r>
          </a:p>
        </p:txBody>
      </p:sp>
      <p:sp>
        <p:nvSpPr>
          <p:cNvPr id="20" name="TextBox 19"/>
          <p:cNvSpPr txBox="1"/>
          <p:nvPr/>
        </p:nvSpPr>
        <p:spPr>
          <a:xfrm>
            <a:off x="1691640" y="4480560"/>
            <a:ext cx="5760720" cy="594360"/>
          </a:xfrm>
          <a:prstGeom prst="rect">
            <a:avLst/>
          </a:prstGeom>
          <a:noFill/>
        </p:spPr>
        <p:txBody>
          <a:bodyPr wrap="square">
            <a:spAutoFit/>
          </a:bodyPr>
          <a:lstStyle/>
          <a:p>
            <a:r>
              <a:rPr sz="1400" b="1">
                <a:solidFill>
                  <a:srgbClr val="F4F0E6"/>
                </a:solidFill>
                <a:latin typeface="Mukta"/>
              </a:rPr>
              <a:t>Family Voice: </a:t>
            </a:r>
            <a:r>
              <a:rPr sz="1200">
                <a:solidFill>
                  <a:srgbClr val="B9EE45"/>
                </a:solidFill>
                <a:latin typeface="Mukta"/>
              </a:rPr>
              <a:t>No response 10 s after L3  →  </a:t>
            </a:r>
            <a:r>
              <a:rPr sz="1200">
                <a:solidFill>
                  <a:srgbClr val="66776E"/>
                </a:solidFill>
                <a:latin typeface="Mukta"/>
              </a:rPr>
              <a:t>Pre-recorded child/family voice clip</a:t>
            </a:r>
          </a:p>
        </p:txBody>
      </p:sp>
      <p:sp>
        <p:nvSpPr>
          <p:cNvPr id="21" name="Rounded Rectangle 20" descr="Content card container" title="Content card container"/>
          <p:cNvSpPr/>
          <p:nvPr/>
        </p:nvSpPr>
        <p:spPr>
          <a:xfrm>
            <a:off x="731520" y="5257800"/>
            <a:ext cx="6858000" cy="786384"/>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descr="Content card container" title="Content card container"/>
          <p:cNvSpPr/>
          <p:nvPr/>
        </p:nvSpPr>
        <p:spPr>
          <a:xfrm>
            <a:off x="914400" y="5422392"/>
            <a:ext cx="640080" cy="438912"/>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440680"/>
            <a:ext cx="640080" cy="365760"/>
          </a:xfrm>
          <a:prstGeom prst="rect">
            <a:avLst/>
          </a:prstGeom>
          <a:noFill/>
        </p:spPr>
        <p:txBody>
          <a:bodyPr wrap="none">
            <a:spAutoFit/>
          </a:bodyPr>
          <a:lstStyle/>
          <a:p>
            <a:pPr algn="ctr"/>
            <a:r>
              <a:rPr sz="1400" b="1">
                <a:solidFill>
                  <a:srgbClr val="FFFFFF"/>
                </a:solidFill>
                <a:latin typeface="Mukta"/>
              </a:rPr>
              <a:t>L5</a:t>
            </a:r>
          </a:p>
        </p:txBody>
      </p:sp>
      <p:sp>
        <p:nvSpPr>
          <p:cNvPr id="24" name="TextBox 23"/>
          <p:cNvSpPr txBox="1"/>
          <p:nvPr/>
        </p:nvSpPr>
        <p:spPr>
          <a:xfrm>
            <a:off x="1691640" y="5349240"/>
            <a:ext cx="5760720" cy="594360"/>
          </a:xfrm>
          <a:prstGeom prst="rect">
            <a:avLst/>
          </a:prstGeom>
          <a:noFill/>
        </p:spPr>
        <p:txBody>
          <a:bodyPr wrap="square">
            <a:spAutoFit/>
          </a:bodyPr>
          <a:lstStyle/>
          <a:p>
            <a:r>
              <a:rPr sz="1400" b="1">
                <a:solidFill>
                  <a:srgbClr val="F4F0E6"/>
                </a:solidFill>
                <a:latin typeface="Mukta"/>
              </a:rPr>
              <a:t>Emergency SOS: </a:t>
            </a:r>
            <a:r>
              <a:rPr sz="1200">
                <a:solidFill>
                  <a:srgbClr val="B9EE45"/>
                </a:solidFill>
                <a:latin typeface="Mukta"/>
              </a:rPr>
              <a:t>No response 20 s after L4  →  </a:t>
            </a:r>
            <a:r>
              <a:rPr sz="1200">
                <a:solidFill>
                  <a:srgbClr val="66776E"/>
                </a:solidFill>
                <a:latin typeface="Mukta"/>
              </a:rPr>
              <a:t>GPS emergency SMS sent over cellular radio</a:t>
            </a:r>
          </a:p>
        </p:txBody>
      </p:sp>
      <p:sp>
        <p:nvSpPr>
          <p:cNvPr id="25" name="Rounded Rectangle 24" descr="Smartphone chassis frame" title="Smartphone chassis frame"/>
          <p:cNvSpPr/>
          <p:nvPr/>
        </p:nvSpPr>
        <p:spPr>
          <a:xfrm>
            <a:off x="8302752" y="1581912"/>
            <a:ext cx="2688336" cy="4608576"/>
          </a:xfrm>
          <a:prstGeom prst="roundRect">
            <a:avLst/>
          </a:prstGeom>
          <a:solidFill>
            <a:srgbClr val="111914"/>
          </a:solidFill>
          <a:ln w="25400">
            <a:solidFill>
              <a:srgbClr val="283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281160" y="1636776"/>
            <a:ext cx="731520" cy="36576"/>
          </a:xfrm>
          <a:prstGeom prst="roundRect">
            <a:avLst/>
          </a:prstGeom>
          <a:solidFill>
            <a:srgbClr val="283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Real Critical Alert Red Screen" title="Real Critical Alert Red Screen"/>
          <p:cNvPicPr>
            <a:picLocks noChangeAspect="1"/>
          </p:cNvPicPr>
          <p:nvPr/>
        </p:nvPicPr>
        <p:blipFill>
          <a:blip r:embed="rId2"/>
          <a:stretch>
            <a:fillRect/>
          </a:stretch>
        </p:blipFill>
        <p:spPr>
          <a:xfrm>
            <a:off x="8412480" y="1691640"/>
            <a:ext cx="246888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B9EE45"/>
                </a:solidFill>
                <a:latin typeface="Mukta"/>
              </a:rPr>
              <a:t>LIVE PROOF &amp; DEMO BACKUP
</a:t>
            </a:r>
            <a:r>
              <a:rPr sz="3200" b="1">
                <a:solidFill>
                  <a:srgbClr val="F4F0E6"/>
                </a:solidFill>
                <a:latin typeface="Mukta"/>
              </a:rPr>
              <a:t>From subtle drowsiness to critical intervention in real time.</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[05 / 18]</a:t>
            </a:r>
          </a:p>
        </p:txBody>
      </p:sp>
      <p:sp>
        <p:nvSpPr>
          <p:cNvPr id="5" name="Rounded Rectangle 4" descr="Smartphone chassis frame for demo" title="Smartphone chassis frame for demo"/>
          <p:cNvSpPr/>
          <p:nvPr/>
        </p:nvSpPr>
        <p:spPr>
          <a:xfrm>
            <a:off x="621792" y="1810512"/>
            <a:ext cx="2561674" cy="4379976"/>
          </a:xfrm>
          <a:prstGeom prst="roundRect">
            <a:avLst/>
          </a:prstGeom>
          <a:solidFill>
            <a:srgbClr val="111914"/>
          </a:solidFill>
          <a:ln w="25400">
            <a:solidFill>
              <a:srgbClr val="283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alarm_clip_loop.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31520" y="1920240"/>
            <a:ext cx="2342218" cy="4160520"/>
          </a:xfrm>
          <a:prstGeom prst="rect">
            <a:avLst/>
          </a:prstGeom>
        </p:spPr>
      </p:pic>
      <p:sp>
        <p:nvSpPr>
          <p:cNvPr id="7" name="Rounded Rectangle 6" descr="Content card container" title="Content card container"/>
          <p:cNvSpPr/>
          <p:nvPr/>
        </p:nvSpPr>
        <p:spPr>
          <a:xfrm>
            <a:off x="3566160" y="1920240"/>
            <a:ext cx="7863840" cy="932688"/>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2011680"/>
            <a:ext cx="7498079" cy="731520"/>
          </a:xfrm>
          <a:prstGeom prst="rect">
            <a:avLst/>
          </a:prstGeom>
          <a:noFill/>
        </p:spPr>
        <p:txBody>
          <a:bodyPr wrap="square">
            <a:spAutoFit/>
          </a:bodyPr>
          <a:lstStyle/>
          <a:p>
            <a:r>
              <a:rPr sz="1600" b="1">
                <a:solidFill>
                  <a:srgbClr val="B9EE45"/>
                </a:solidFill>
                <a:latin typeface="Mukta"/>
              </a:rPr>
              <a:t>01. Normal Monitoring (98/100)</a:t>
            </a:r>
          </a:p>
          <a:p>
            <a:pPr>
              <a:spcBef>
                <a:spcPts val="200"/>
              </a:spcBef>
            </a:pPr>
            <a:r>
              <a:rPr sz="1300">
                <a:solidFill>
                  <a:srgbClr val="66776E"/>
                </a:solidFill>
                <a:latin typeface="Mukta"/>
              </a:rPr>
              <a:t>Green UI tracks facial landmarks continuously at 24.8 FPS. Zero CPU stutter or frame lag.</a:t>
            </a:r>
          </a:p>
        </p:txBody>
      </p:sp>
      <p:sp>
        <p:nvSpPr>
          <p:cNvPr id="9" name="Rounded Rectangle 8" descr="Content card container" title="Content card container"/>
          <p:cNvSpPr/>
          <p:nvPr/>
        </p:nvSpPr>
        <p:spPr>
          <a:xfrm>
            <a:off x="3566160" y="2999232"/>
            <a:ext cx="7863840" cy="932688"/>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3090672"/>
            <a:ext cx="7498079" cy="731520"/>
          </a:xfrm>
          <a:prstGeom prst="rect">
            <a:avLst/>
          </a:prstGeom>
          <a:noFill/>
        </p:spPr>
        <p:txBody>
          <a:bodyPr wrap="square">
            <a:spAutoFit/>
          </a:bodyPr>
          <a:lstStyle/>
          <a:p>
            <a:r>
              <a:rPr sz="1600" b="1">
                <a:solidFill>
                  <a:srgbClr val="B9EE45"/>
                </a:solidFill>
                <a:latin typeface="Mukta"/>
              </a:rPr>
              <a:t>02. Drowsiness Detected (35/100)</a:t>
            </a:r>
          </a:p>
          <a:p>
            <a:pPr>
              <a:spcBef>
                <a:spcPts val="200"/>
              </a:spcBef>
            </a:pPr>
            <a:r>
              <a:rPr sz="1300">
                <a:solidFill>
                  <a:srgbClr val="66776E"/>
                </a:solidFill>
                <a:latin typeface="Mukta"/>
              </a:rPr>
              <a:t>Driver simulates eye closure. High PERCLOS (56%) immediately penalizes heuristic score into amber 'Fatigued'.</a:t>
            </a:r>
          </a:p>
        </p:txBody>
      </p:sp>
      <p:sp>
        <p:nvSpPr>
          <p:cNvPr id="11" name="Rounded Rectangle 10" descr="Content card container" title="Content card container"/>
          <p:cNvSpPr/>
          <p:nvPr/>
        </p:nvSpPr>
        <p:spPr>
          <a:xfrm>
            <a:off x="3566160" y="4078224"/>
            <a:ext cx="7863840" cy="932688"/>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4169664"/>
            <a:ext cx="7498079" cy="731520"/>
          </a:xfrm>
          <a:prstGeom prst="rect">
            <a:avLst/>
          </a:prstGeom>
          <a:noFill/>
        </p:spPr>
        <p:txBody>
          <a:bodyPr wrap="square">
            <a:spAutoFit/>
          </a:bodyPr>
          <a:lstStyle/>
          <a:p>
            <a:r>
              <a:rPr sz="1600" b="1">
                <a:solidFill>
                  <a:srgbClr val="B9EE45"/>
                </a:solidFill>
                <a:latin typeface="Mukta"/>
              </a:rPr>
              <a:t>03. Critical L3 Trigger (2.5 s)</a:t>
            </a:r>
          </a:p>
          <a:p>
            <a:pPr>
              <a:spcBef>
                <a:spcPts val="200"/>
              </a:spcBef>
            </a:pPr>
            <a:r>
              <a:rPr sz="1300">
                <a:solidFill>
                  <a:srgbClr val="66776E"/>
                </a:solidFill>
                <a:latin typeface="Mukta"/>
              </a:rPr>
              <a:t>2,500 ms sustained closure immediately trips Level 3. Full-bleed red screen, alarm on USAGE_ALARM stream, and urgent Hindi TTS.</a:t>
            </a:r>
          </a:p>
        </p:txBody>
      </p:sp>
      <p:sp>
        <p:nvSpPr>
          <p:cNvPr id="13" name="Rounded Rectangle 12" descr="Content card container" title="Content card container"/>
          <p:cNvSpPr/>
          <p:nvPr/>
        </p:nvSpPr>
        <p:spPr>
          <a:xfrm>
            <a:off x="3566160" y="5157216"/>
            <a:ext cx="7863840" cy="932688"/>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39" y="5248656"/>
            <a:ext cx="7498079" cy="731520"/>
          </a:xfrm>
          <a:prstGeom prst="rect">
            <a:avLst/>
          </a:prstGeom>
          <a:noFill/>
        </p:spPr>
        <p:txBody>
          <a:bodyPr wrap="square">
            <a:spAutoFit/>
          </a:bodyPr>
          <a:lstStyle/>
          <a:p>
            <a:r>
              <a:rPr sz="1600" b="1">
                <a:solidFill>
                  <a:srgbClr val="B9EE45"/>
                </a:solidFill>
                <a:latin typeface="Mukta"/>
              </a:rPr>
              <a:t>04. Instant Hands-Free Recovery</a:t>
            </a:r>
          </a:p>
          <a:p>
            <a:pPr>
              <a:spcBef>
                <a:spcPts val="200"/>
              </a:spcBef>
            </a:pPr>
            <a:r>
              <a:rPr sz="1300">
                <a:solidFill>
                  <a:srgbClr val="66776E"/>
                </a:solidFill>
                <a:latin typeface="Mukta"/>
              </a:rPr>
              <a:t>Eyes open for ≥ 3.0 s OR tapping the big 'I'M AWAKE' button silences alarm and cancels pending SMS.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PERSONAL CALIBRATION &amp; ACCURACY
</a:t>
            </a:r>
            <a:r>
              <a:rPr sz="3200" b="1">
                <a:solidFill>
                  <a:srgbClr val="18392B"/>
                </a:solidFill>
                <a:latin typeface="Mukta"/>
              </a:rPr>
              <a:t>Learned from the driver's own face, not a generic average.</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[06 / 18]</a:t>
            </a:r>
          </a:p>
        </p:txBody>
      </p:sp>
      <p:sp>
        <p:nvSpPr>
          <p:cNvPr id="5" name="Rounded Rectangle 4" descr="Content card container" title="Content card container"/>
          <p:cNvSpPr/>
          <p:nvPr/>
        </p:nvSpPr>
        <p:spPr>
          <a:xfrm>
            <a:off x="731520" y="1783080"/>
            <a:ext cx="2468880" cy="196596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2103120" cy="1691640"/>
          </a:xfrm>
          <a:prstGeom prst="rect">
            <a:avLst/>
          </a:prstGeom>
          <a:noFill/>
        </p:spPr>
        <p:txBody>
          <a:bodyPr wrap="square" lIns="0" tIns="0" rIns="0" bIns="0">
            <a:spAutoFit/>
          </a:bodyPr>
          <a:lstStyle/>
          <a:p>
            <a:r>
              <a:rPr sz="3800" b="1">
                <a:solidFill>
                  <a:srgbClr val="18392B"/>
                </a:solidFill>
                <a:latin typeface="Mukta"/>
              </a:rPr>
              <a:t>18 ms</a:t>
            </a:r>
          </a:p>
          <a:p>
            <a:pPr>
              <a:spcBef>
                <a:spcPts val="400"/>
              </a:spcBef>
            </a:pPr>
            <a:r>
              <a:rPr sz="1400" b="1">
                <a:solidFill>
                  <a:srgbClr val="18392B"/>
                </a:solidFill>
                <a:latin typeface="Mukta"/>
              </a:rPr>
              <a:t>Inference Latency</a:t>
            </a:r>
          </a:p>
          <a:p>
            <a:pPr>
              <a:spcBef>
                <a:spcPts val="200"/>
              </a:spcBef>
            </a:pPr>
            <a:r>
              <a:rPr sz="1100">
                <a:solidFill>
                  <a:srgbClr val="66776E"/>
                </a:solidFill>
                <a:latin typeface="Mukta"/>
              </a:rPr>
              <a:t>Snapdragon 8 Elite CPU</a:t>
            </a:r>
          </a:p>
        </p:txBody>
      </p:sp>
      <p:sp>
        <p:nvSpPr>
          <p:cNvPr id="7" name="Rounded Rectangle 6" descr="Content card container" title="Content card container"/>
          <p:cNvSpPr/>
          <p:nvPr/>
        </p:nvSpPr>
        <p:spPr>
          <a:xfrm>
            <a:off x="3383280" y="1783080"/>
            <a:ext cx="2468880" cy="196596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920240"/>
            <a:ext cx="2103120" cy="1691640"/>
          </a:xfrm>
          <a:prstGeom prst="rect">
            <a:avLst/>
          </a:prstGeom>
          <a:noFill/>
        </p:spPr>
        <p:txBody>
          <a:bodyPr wrap="square" lIns="0" tIns="0" rIns="0" bIns="0">
            <a:spAutoFit/>
          </a:bodyPr>
          <a:lstStyle/>
          <a:p>
            <a:r>
              <a:rPr sz="3800" b="1">
                <a:solidFill>
                  <a:srgbClr val="18392B"/>
                </a:solidFill>
                <a:latin typeface="Mukta"/>
              </a:rPr>
              <a:t>24.8 FPS</a:t>
            </a:r>
          </a:p>
          <a:p>
            <a:pPr>
              <a:spcBef>
                <a:spcPts val="400"/>
              </a:spcBef>
            </a:pPr>
            <a:r>
              <a:rPr sz="1400" b="1">
                <a:solidFill>
                  <a:srgbClr val="18392B"/>
                </a:solidFill>
                <a:latin typeface="Mukta"/>
              </a:rPr>
              <a:t>Camera Pipeline Rate</a:t>
            </a:r>
          </a:p>
          <a:p>
            <a:pPr>
              <a:spcBef>
                <a:spcPts val="200"/>
              </a:spcBef>
            </a:pPr>
            <a:r>
              <a:rPr sz="1100">
                <a:solidFill>
                  <a:srgbClr val="66776E"/>
                </a:solidFill>
                <a:latin typeface="Mukta"/>
              </a:rPr>
              <a:t>Continuous real-time flow</a:t>
            </a:r>
          </a:p>
        </p:txBody>
      </p:sp>
      <p:sp>
        <p:nvSpPr>
          <p:cNvPr id="9" name="Rounded Rectangle 8" descr="Content card container" title="Content card container"/>
          <p:cNvSpPr/>
          <p:nvPr/>
        </p:nvSpPr>
        <p:spPr>
          <a:xfrm>
            <a:off x="731520" y="3977639"/>
            <a:ext cx="2468880" cy="196596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14799"/>
            <a:ext cx="2103120" cy="1691640"/>
          </a:xfrm>
          <a:prstGeom prst="rect">
            <a:avLst/>
          </a:prstGeom>
          <a:noFill/>
        </p:spPr>
        <p:txBody>
          <a:bodyPr wrap="square" lIns="0" tIns="0" rIns="0" bIns="0">
            <a:spAutoFit/>
          </a:bodyPr>
          <a:lstStyle/>
          <a:p>
            <a:r>
              <a:rPr sz="3800" b="1">
                <a:solidFill>
                  <a:srgbClr val="18392B"/>
                </a:solidFill>
                <a:latin typeface="Mukta"/>
              </a:rPr>
              <a:t>5.6x</a:t>
            </a:r>
          </a:p>
          <a:p>
            <a:pPr>
              <a:spcBef>
                <a:spcPts val="400"/>
              </a:spcBef>
            </a:pPr>
            <a:r>
              <a:rPr sz="1400" b="1">
                <a:solidFill>
                  <a:srgbClr val="18392B"/>
                </a:solidFill>
                <a:latin typeface="Mukta"/>
              </a:rPr>
              <a:t>Separation Dynamic Range</a:t>
            </a:r>
          </a:p>
          <a:p>
            <a:pPr>
              <a:spcBef>
                <a:spcPts val="200"/>
              </a:spcBef>
            </a:pPr>
            <a:r>
              <a:rPr sz="1100">
                <a:solidFill>
                  <a:srgbClr val="66776E"/>
                </a:solidFill>
                <a:latin typeface="Mukta"/>
              </a:rPr>
              <a:t>0.34 Open vs 0.06 Closed EAR</a:t>
            </a:r>
          </a:p>
        </p:txBody>
      </p:sp>
      <p:sp>
        <p:nvSpPr>
          <p:cNvPr id="11" name="Rounded Rectangle 10" descr="Content card container" title="Content card container"/>
          <p:cNvSpPr/>
          <p:nvPr/>
        </p:nvSpPr>
        <p:spPr>
          <a:xfrm>
            <a:off x="3383280" y="3977639"/>
            <a:ext cx="2468880" cy="196596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4114799"/>
            <a:ext cx="2103120" cy="1691640"/>
          </a:xfrm>
          <a:prstGeom prst="rect">
            <a:avLst/>
          </a:prstGeom>
          <a:noFill/>
        </p:spPr>
        <p:txBody>
          <a:bodyPr wrap="square" lIns="0" tIns="0" rIns="0" bIns="0">
            <a:spAutoFit/>
          </a:bodyPr>
          <a:lstStyle/>
          <a:p>
            <a:r>
              <a:rPr sz="3800" b="1">
                <a:solidFill>
                  <a:srgbClr val="18392B"/>
                </a:solidFill>
                <a:latin typeface="Mukta"/>
              </a:rPr>
              <a:t>&lt; 34°C</a:t>
            </a:r>
          </a:p>
          <a:p>
            <a:pPr>
              <a:spcBef>
                <a:spcPts val="400"/>
              </a:spcBef>
            </a:pPr>
            <a:r>
              <a:rPr sz="1400" b="1">
                <a:solidFill>
                  <a:srgbClr val="18392B"/>
                </a:solidFill>
                <a:latin typeface="Mukta"/>
              </a:rPr>
              <a:t>Sustained Phone Temp</a:t>
            </a:r>
          </a:p>
          <a:p>
            <a:pPr>
              <a:spcBef>
                <a:spcPts val="200"/>
              </a:spcBef>
            </a:pPr>
            <a:r>
              <a:rPr sz="1100">
                <a:solidFill>
                  <a:srgbClr val="66776E"/>
                </a:solidFill>
                <a:latin typeface="Mukta"/>
              </a:rPr>
              <a:t>Throttling threshold: 42°C</a:t>
            </a:r>
          </a:p>
        </p:txBody>
      </p:sp>
      <p:sp>
        <p:nvSpPr>
          <p:cNvPr id="13" name="Rounded Rectangle 12" descr="Content card container" title="Content card container"/>
          <p:cNvSpPr/>
          <p:nvPr/>
        </p:nvSpPr>
        <p:spPr>
          <a:xfrm>
            <a:off x="6217920" y="1783080"/>
            <a:ext cx="5212080" cy="41605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11680"/>
            <a:ext cx="4663440" cy="3657600"/>
          </a:xfrm>
          <a:prstGeom prst="rect">
            <a:avLst/>
          </a:prstGeom>
          <a:noFill/>
        </p:spPr>
        <p:txBody>
          <a:bodyPr wrap="square">
            <a:spAutoFit/>
          </a:bodyPr>
          <a:lstStyle/>
          <a:p>
            <a:r>
              <a:rPr sz="2200" b="1">
                <a:solidFill>
                  <a:srgbClr val="18392B"/>
                </a:solidFill>
                <a:latin typeface="Mukta"/>
              </a:rPr>
              <a:t>How Personal Calibration Works
</a:t>
            </a:r>
          </a:p>
          <a:p>
            <a:pPr>
              <a:spcBef>
                <a:spcPts val="1200"/>
              </a:spcBef>
            </a:pPr>
            <a:r>
              <a:rPr sz="1300" b="1">
                <a:solidFill>
                  <a:srgbClr val="18392B"/>
                </a:solidFill>
                <a:latin typeface="Mukta"/>
              </a:rPr>
              <a:t>Statistical Medians (D4): </a:t>
            </a:r>
            <a:r>
              <a:rPr sz="1300">
                <a:solidFill>
                  <a:srgbClr val="44554C"/>
                </a:solidFill>
                <a:latin typeface="Mukta"/>
              </a:rPr>
              <a:t>Uses medians across open/closed eyes, MAR, and response time — completely immune to single-frame outliers.</a:t>
            </a:r>
          </a:p>
          <a:p>
            <a:pPr>
              <a:spcBef>
                <a:spcPts val="1200"/>
              </a:spcBef>
            </a:pPr>
            <a:r>
              <a:rPr sz="1300" b="1">
                <a:solidFill>
                  <a:srgbClr val="18392B"/>
                </a:solidFill>
                <a:latin typeface="Mukta"/>
              </a:rPr>
              <a:t>Custom Midpoint Threshold: </a:t>
            </a:r>
            <a:r>
              <a:rPr sz="1300">
                <a:solidFill>
                  <a:srgbClr val="44554C"/>
                </a:solidFill>
                <a:latin typeface="Mukta"/>
              </a:rPr>
              <a:t>Threshold = ClosedMedian + 0.5 × (OpenMedian − ClosedMedian). Automatically adapts to thick spectacles and narrow eye profiles.</a:t>
            </a:r>
          </a:p>
          <a:p>
            <a:pPr>
              <a:spcBef>
                <a:spcPts val="1200"/>
              </a:spcBef>
            </a:pPr>
            <a:r>
              <a:rPr sz="1300" b="1">
                <a:solidFill>
                  <a:srgbClr val="18392B"/>
                </a:solidFill>
                <a:latin typeface="Mukta"/>
              </a:rPr>
              <a:t>Relative Dashboard Tilt (D18): </a:t>
            </a:r>
            <a:r>
              <a:rPr sz="1300">
                <a:solidFill>
                  <a:srgbClr val="44554C"/>
                </a:solidFill>
                <a:latin typeface="Mukta"/>
              </a:rPr>
              <a:t>Normalizes against the 7–9° dashboard mount tilt, so looking at road mirrors never triggers false head-droop alarms.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THE SAFETY NET (LEVEL 5)
</a:t>
            </a:r>
            <a:r>
              <a:rPr sz="3200" b="1">
                <a:solidFill>
                  <a:srgbClr val="18392B"/>
                </a:solidFill>
                <a:latin typeface="Mukta"/>
              </a:rPr>
              <a:t>Automated SOS with live GPS when a driver is unresponsive.</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[07 / 18]</a:t>
            </a:r>
          </a:p>
        </p:txBody>
      </p:sp>
      <p:sp>
        <p:nvSpPr>
          <p:cNvPr id="5" name="Rounded Rectangle 4" descr="Content card container" title="Content card container"/>
          <p:cNvSpPr/>
          <p:nvPr/>
        </p:nvSpPr>
        <p:spPr>
          <a:xfrm>
            <a:off x="731520" y="1783080"/>
            <a:ext cx="5120640" cy="41605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72000" cy="3749039"/>
          </a:xfrm>
          <a:prstGeom prst="rect">
            <a:avLst/>
          </a:prstGeom>
          <a:noFill/>
        </p:spPr>
        <p:txBody>
          <a:bodyPr wrap="square">
            <a:spAutoFit/>
          </a:bodyPr>
          <a:lstStyle/>
          <a:p>
            <a:r>
              <a:rPr sz="1800" b="1">
                <a:solidFill>
                  <a:srgbClr val="18392B"/>
                </a:solidFill>
                <a:latin typeface="Mukta"/>
              </a:rPr>
              <a:t>Verified SMS Template
</a:t>
            </a:r>
          </a:p>
          <a:p>
            <a:pPr>
              <a:spcBef>
                <a:spcPts val="800"/>
              </a:spcBef>
            </a:pPr>
            <a:r>
              <a:rPr sz="1300">
                <a:solidFill>
                  <a:srgbClr val="18392B"/>
                </a:solidFill>
                <a:latin typeface="Consolas"/>
              </a:rPr>
              <a:t>ALERT: Driver may be unresponsive while driving.
Last alert: 10:37:32 AM
Alerts in this trip: 1
Location: 28.5450° N, 77.1926° E
— Sent by Jaagrit (automated safety alert)</a:t>
            </a:r>
          </a:p>
          <a:p>
            <a:pPr>
              <a:spcBef>
                <a:spcPts val="1400"/>
              </a:spcBef>
            </a:pPr>
            <a:r>
              <a:rPr sz="1200">
                <a:solidFill>
                  <a:srgbClr val="66776E"/>
                </a:solidFill>
                <a:latin typeface="Mukta"/>
              </a:rPr>
              <a:t>Sent strictly via cellular GSM radio. Works with zero data plan or cloud server.</a:t>
            </a:r>
          </a:p>
        </p:txBody>
      </p:sp>
      <p:sp>
        <p:nvSpPr>
          <p:cNvPr id="7" name="Rounded Rectangle 6" descr="Content card container" title="Content card container"/>
          <p:cNvSpPr/>
          <p:nvPr/>
        </p:nvSpPr>
        <p:spPr>
          <a:xfrm>
            <a:off x="6217920" y="1783080"/>
            <a:ext cx="5212080" cy="41605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63440" cy="3749039"/>
          </a:xfrm>
          <a:prstGeom prst="rect">
            <a:avLst/>
          </a:prstGeom>
          <a:noFill/>
        </p:spPr>
        <p:txBody>
          <a:bodyPr wrap="square">
            <a:spAutoFit/>
          </a:bodyPr>
          <a:lstStyle/>
          <a:p>
            <a:r>
              <a:rPr sz="2200" b="1">
                <a:solidFill>
                  <a:srgbClr val="18392B"/>
                </a:solidFill>
                <a:latin typeface="Mukta"/>
              </a:rPr>
              <a:t>Failsafe Design Principles
</a:t>
            </a:r>
          </a:p>
          <a:p>
            <a:pPr>
              <a:spcBef>
                <a:spcPts val="1200"/>
              </a:spcBef>
            </a:pPr>
            <a:r>
              <a:rPr sz="1300" b="1">
                <a:solidFill>
                  <a:srgbClr val="18392B"/>
                </a:solidFill>
                <a:latin typeface="Mukta"/>
              </a:rPr>
              <a:t>Pre-Drive Readiness Check: </a:t>
            </a:r>
            <a:r>
              <a:rPr sz="1300">
                <a:solidFill>
                  <a:srgbClr val="44554C"/>
                </a:solidFill>
                <a:latin typeface="Mukta"/>
              </a:rPr>
              <a:t>The app checks cellular SIM and GPS before departure. In airplane mode, it explicitly warns the driver that SMS is offline.</a:t>
            </a:r>
          </a:p>
          <a:p>
            <a:pPr>
              <a:spcBef>
                <a:spcPts val="1200"/>
              </a:spcBef>
            </a:pPr>
            <a:r>
              <a:rPr sz="1300" b="1">
                <a:solidFill>
                  <a:srgbClr val="18392B"/>
                </a:solidFill>
                <a:latin typeface="Mukta"/>
              </a:rPr>
              <a:t>False-Positive Circuit Breaker: </a:t>
            </a:r>
            <a:r>
              <a:rPr sz="1300">
                <a:solidFill>
                  <a:srgbClr val="44554C"/>
                </a:solidFill>
                <a:latin typeface="Mukta"/>
              </a:rPr>
              <a:t>If &gt;3 alerts are dismissed in 10 minutes, the app suggests recalibration rather than escalating to emergency contacts.</a:t>
            </a:r>
          </a:p>
          <a:p>
            <a:pPr>
              <a:spcBef>
                <a:spcPts val="1200"/>
              </a:spcBef>
            </a:pPr>
            <a:r>
              <a:rPr sz="1300" b="1">
                <a:solidFill>
                  <a:srgbClr val="18392B"/>
                </a:solidFill>
                <a:latin typeface="Mukta"/>
              </a:rPr>
              <a:t>Any Awake Action Cancels: </a:t>
            </a:r>
            <a:r>
              <a:rPr sz="1300">
                <a:solidFill>
                  <a:srgbClr val="44554C"/>
                </a:solidFill>
                <a:latin typeface="Mukta"/>
              </a:rPr>
              <a:t>Tapping 'I'M AWAKE' or keeping eyes open for 3 seconds instantly halts the pending Level 5 SMS countdown.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FLEET PROOF &amp; OFFICE KIT
</a:t>
            </a:r>
            <a:r>
              <a:rPr sz="2800" b="1">
                <a:solidFill>
                  <a:srgbClr val="18392B"/>
                </a:solidFill>
                <a:latin typeface="Mukta"/>
              </a:rPr>
              <a:t>Complete trip telemetry stored locally and shared seamlessly.</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[08 / 18]</a:t>
            </a:r>
          </a:p>
        </p:txBody>
      </p:sp>
      <p:sp>
        <p:nvSpPr>
          <p:cNvPr id="5" name="Rounded Rectangle 4" descr="Smartphone chassis frame" title="Smartphone chassis frame"/>
          <p:cNvSpPr/>
          <p:nvPr/>
        </p:nvSpPr>
        <p:spPr>
          <a:xfrm>
            <a:off x="621792" y="1856232"/>
            <a:ext cx="2089819" cy="4334256"/>
          </a:xfrm>
          <a:prstGeom prst="roundRect">
            <a:avLst/>
          </a:prstGeom>
          <a:solidFill>
            <a:srgbClr val="111914"/>
          </a:solidFill>
          <a:ln w="25400">
            <a:solidFill>
              <a:srgbClr val="283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39388" y="1911096"/>
            <a:ext cx="654627" cy="36576"/>
          </a:xfrm>
          <a:prstGeom prst="roundRect">
            <a:avLst/>
          </a:prstGeom>
          <a:solidFill>
            <a:srgbClr val="283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om Database Trip History" title="Room Database Trip History"/>
          <p:cNvPicPr>
            <a:picLocks noChangeAspect="1"/>
          </p:cNvPicPr>
          <p:nvPr/>
        </p:nvPicPr>
        <p:blipFill>
          <a:blip r:embed="rId2"/>
          <a:stretch>
            <a:fillRect/>
          </a:stretch>
        </p:blipFill>
        <p:spPr>
          <a:xfrm>
            <a:off x="731520" y="1965960"/>
            <a:ext cx="1870363" cy="4114800"/>
          </a:xfrm>
          <a:prstGeom prst="rect">
            <a:avLst/>
          </a:prstGeom>
        </p:spPr>
      </p:pic>
      <p:sp>
        <p:nvSpPr>
          <p:cNvPr id="8" name="Rounded Rectangle 7" descr="Content card container" title="Content card container"/>
          <p:cNvSpPr/>
          <p:nvPr/>
        </p:nvSpPr>
        <p:spPr>
          <a:xfrm>
            <a:off x="3017520" y="1965960"/>
            <a:ext cx="4389120" cy="411480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afety Score &amp; Alertness Graph" title="Safety Score &amp; Alertness Graph"/>
          <p:cNvPicPr>
            <a:picLocks noChangeAspect="1"/>
          </p:cNvPicPr>
          <p:nvPr/>
        </p:nvPicPr>
        <p:blipFill>
          <a:blip r:embed="rId3"/>
          <a:stretch>
            <a:fillRect/>
          </a:stretch>
        </p:blipFill>
        <p:spPr>
          <a:xfrm>
            <a:off x="3200400" y="2103120"/>
            <a:ext cx="4023360" cy="3840480"/>
          </a:xfrm>
          <a:prstGeom prst="rect">
            <a:avLst/>
          </a:prstGeom>
        </p:spPr>
      </p:pic>
      <p:sp>
        <p:nvSpPr>
          <p:cNvPr id="10" name="Rounded Rectangle 9" descr="Content card container" title="Content card container"/>
          <p:cNvSpPr/>
          <p:nvPr/>
        </p:nvSpPr>
        <p:spPr>
          <a:xfrm>
            <a:off x="7680960" y="1965960"/>
            <a:ext cx="3749039" cy="411480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48840"/>
            <a:ext cx="3383280" cy="3749040"/>
          </a:xfrm>
          <a:prstGeom prst="rect">
            <a:avLst/>
          </a:prstGeom>
          <a:noFill/>
        </p:spPr>
        <p:txBody>
          <a:bodyPr wrap="square">
            <a:spAutoFit/>
          </a:bodyPr>
          <a:lstStyle/>
          <a:p>
            <a:r>
              <a:rPr sz="2000" b="1">
                <a:solidFill>
                  <a:srgbClr val="18392B"/>
                </a:solidFill>
                <a:latin typeface="Mukta"/>
              </a:rPr>
              <a:t>Office Kit Fleet Transfer
</a:t>
            </a:r>
          </a:p>
          <a:p>
            <a:pPr>
              <a:spcBef>
                <a:spcPts val="1200"/>
              </a:spcBef>
            </a:pPr>
            <a:r>
              <a:rPr sz="1300" b="1">
                <a:solidFill>
                  <a:srgbClr val="18392B"/>
                </a:solidFill>
                <a:latin typeface="Mukta"/>
              </a:rPr>
              <a:t>Offline Database: </a:t>
            </a:r>
            <a:r>
              <a:rPr sz="1200">
                <a:solidFill>
                  <a:srgbClr val="44554C"/>
                </a:solidFill>
                <a:latin typeface="Mukta"/>
              </a:rPr>
              <a:t>On-device Room database logs 48 real trips with alertness telemetry sampled every 5 seconds.</a:t>
            </a:r>
          </a:p>
          <a:p>
            <a:pPr>
              <a:spcBef>
                <a:spcPts val="1200"/>
              </a:spcBef>
            </a:pPr>
            <a:r>
              <a:rPr sz="1300" b="1">
                <a:solidFill>
                  <a:srgbClr val="18392B"/>
                </a:solidFill>
                <a:latin typeface="Mukta"/>
              </a:rPr>
              <a:t>PDF Report Export: </a:t>
            </a:r>
            <a:r>
              <a:rPr sz="1200">
                <a:solidFill>
                  <a:srgbClr val="44554C"/>
                </a:solidFill>
                <a:latin typeface="Mukta"/>
              </a:rPr>
              <a:t>One-page visual PDF generated via Android PdfDocument and saved to Download/Jaagrit/.</a:t>
            </a:r>
          </a:p>
          <a:p>
            <a:pPr>
              <a:spcBef>
                <a:spcPts val="1200"/>
              </a:spcBef>
            </a:pPr>
            <a:r>
              <a:rPr sz="1300" b="1">
                <a:solidFill>
                  <a:srgbClr val="18392B"/>
                </a:solidFill>
                <a:latin typeface="Mukta"/>
              </a:rPr>
              <a:t>Instant Laptop Mirror: </a:t>
            </a:r>
            <a:r>
              <a:rPr sz="1200">
                <a:solidFill>
                  <a:srgbClr val="44554C"/>
                </a:solidFill>
                <a:latin typeface="Mukta"/>
              </a:rPr>
              <a:t>Fleet managers mirror the dashboard and transfer reports in seconds via Office Kit — zero cloud portal required.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B9EE45"/>
                </a:solidFill>
                <a:latin typeface="Mukta"/>
              </a:rPr>
              <a:t>COGNITIVE PREVENTION (L1/L2)
</a:t>
            </a:r>
            <a:r>
              <a:rPr sz="3200" b="1">
                <a:solidFill>
                  <a:srgbClr val="F4F0E6"/>
                </a:solidFill>
                <a:latin typeface="Mukta"/>
              </a:rPr>
              <a:t>Engaging the driver's brain before their eyes close.</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[09 / 18]</a:t>
            </a:r>
          </a:p>
        </p:txBody>
      </p:sp>
      <p:sp>
        <p:nvSpPr>
          <p:cNvPr id="5" name="Rounded Rectangle 4" descr="Content card container" title="Content card container"/>
          <p:cNvSpPr/>
          <p:nvPr/>
        </p:nvSpPr>
        <p:spPr>
          <a:xfrm>
            <a:off x="731520" y="1783080"/>
            <a:ext cx="5120640" cy="4160520"/>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72000" cy="3749039"/>
          </a:xfrm>
          <a:prstGeom prst="rect">
            <a:avLst/>
          </a:prstGeom>
          <a:noFill/>
        </p:spPr>
        <p:txBody>
          <a:bodyPr wrap="square">
            <a:spAutoFit/>
          </a:bodyPr>
          <a:lstStyle/>
          <a:p>
            <a:r>
              <a:rPr sz="2000" b="1">
                <a:solidFill>
                  <a:srgbClr val="B9EE45"/>
                </a:solidFill>
                <a:latin typeface="Mukta"/>
              </a:rPr>
              <a:t>Level 1: Spoken Openers
</a:t>
            </a:r>
          </a:p>
          <a:p>
            <a:pPr>
              <a:spcBef>
                <a:spcPts val="1000"/>
              </a:spcBef>
            </a:pPr>
            <a:r>
              <a:rPr sz="1400">
                <a:solidFill>
                  <a:srgbClr val="F4F0E6"/>
                </a:solidFill>
                <a:latin typeface="Mukta"/>
              </a:rPr>
              <a:t>Spoken Hindi check-in:
"भाई, बहुत देर हो गई। घर पे कौन इंतज़ार कर रहा है?"
• Natural conversational tone under 8 seconds
• 60-second cooldown between prompts
• 2 ignored openers → 5-minute polite backoff
• "चुप रहो" silences the companion for 2 minutes</a:t>
            </a:r>
          </a:p>
        </p:txBody>
      </p:sp>
      <p:sp>
        <p:nvSpPr>
          <p:cNvPr id="7" name="Rounded Rectangle 6" descr="Content card container" title="Content card container"/>
          <p:cNvSpPr/>
          <p:nvPr/>
        </p:nvSpPr>
        <p:spPr>
          <a:xfrm>
            <a:off x="6217920" y="1783080"/>
            <a:ext cx="5212080" cy="4160520"/>
          </a:xfrm>
          <a:prstGeom prst="roundRect">
            <a:avLst/>
          </a:prstGeom>
          <a:solidFill>
            <a:srgbClr val="13221B"/>
          </a:solidFill>
          <a:ln w="19050">
            <a:solidFill>
              <a:srgbClr val="2236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63440" cy="3749039"/>
          </a:xfrm>
          <a:prstGeom prst="rect">
            <a:avLst/>
          </a:prstGeom>
          <a:noFill/>
        </p:spPr>
        <p:txBody>
          <a:bodyPr wrap="square">
            <a:spAutoFit/>
          </a:bodyPr>
          <a:lstStyle/>
          <a:p>
            <a:r>
              <a:rPr sz="2000" b="1">
                <a:solidFill>
                  <a:srgbClr val="D97706"/>
                </a:solidFill>
                <a:latin typeface="Mukta"/>
              </a:rPr>
              <a:t>Level 2: Cognitive Latency Test
</a:t>
            </a:r>
          </a:p>
          <a:p>
            <a:pPr>
              <a:spcBef>
                <a:spcPts val="1000"/>
              </a:spcBef>
            </a:pPr>
            <a:r>
              <a:rPr sz="1400">
                <a:solidFill>
                  <a:srgbClr val="F4F0E6"/>
                </a:solidFill>
                <a:latin typeface="Mukta"/>
              </a:rPr>
              <a:t>Spoken mental check:
"सौ में से तीस घटा। कितना बचा?"
• Measures response latency against calibration
• Latency &gt; 2x baseline confirms creeping fatigue
• Microphone locked during active alarms (L3+)
• 4 fallback touch buttons ensure zero distraction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BILINGUAL &amp; PRIVATE
</a:t>
            </a:r>
            <a:r>
              <a:rPr sz="2800" b="1">
                <a:solidFill>
                  <a:srgbClr val="18392B"/>
                </a:solidFill>
                <a:latin typeface="Mukta"/>
              </a:rPr>
              <a:t>Designed for Indian drivers: Hindi first, zero cloud compromise.</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[10 / 18]</a:t>
            </a:r>
          </a:p>
        </p:txBody>
      </p:sp>
      <p:sp>
        <p:nvSpPr>
          <p:cNvPr id="5" name="Rounded Rectangle 4" descr="Smartphone chassis frame" title="Smartphone chassis frame"/>
          <p:cNvSpPr/>
          <p:nvPr/>
        </p:nvSpPr>
        <p:spPr>
          <a:xfrm>
            <a:off x="804672" y="1856232"/>
            <a:ext cx="2089819" cy="4334256"/>
          </a:xfrm>
          <a:prstGeom prst="roundRect">
            <a:avLst/>
          </a:prstGeom>
          <a:solidFill>
            <a:srgbClr val="111914"/>
          </a:solidFill>
          <a:ln w="25400">
            <a:solidFill>
              <a:srgbClr val="283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268" y="1911096"/>
            <a:ext cx="654627" cy="36576"/>
          </a:xfrm>
          <a:prstGeom prst="roundRect">
            <a:avLst/>
          </a:prstGeom>
          <a:solidFill>
            <a:srgbClr val="283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indi Interface" title="Hindi Interface"/>
          <p:cNvPicPr>
            <a:picLocks noChangeAspect="1"/>
          </p:cNvPicPr>
          <p:nvPr/>
        </p:nvPicPr>
        <p:blipFill>
          <a:blip r:embed="rId2"/>
          <a:stretch>
            <a:fillRect/>
          </a:stretch>
        </p:blipFill>
        <p:spPr>
          <a:xfrm>
            <a:off x="914400" y="1965960"/>
            <a:ext cx="1870363" cy="4114800"/>
          </a:xfrm>
          <a:prstGeom prst="rect">
            <a:avLst/>
          </a:prstGeom>
        </p:spPr>
      </p:pic>
      <p:sp>
        <p:nvSpPr>
          <p:cNvPr id="8" name="Rounded Rectangle 7" descr="Smartphone chassis frame" title="Smartphone chassis frame"/>
          <p:cNvSpPr/>
          <p:nvPr/>
        </p:nvSpPr>
        <p:spPr>
          <a:xfrm>
            <a:off x="3182112" y="1856232"/>
            <a:ext cx="2089819" cy="4334256"/>
          </a:xfrm>
          <a:prstGeom prst="roundRect">
            <a:avLst/>
          </a:prstGeom>
          <a:solidFill>
            <a:srgbClr val="111914"/>
          </a:solidFill>
          <a:ln w="25400">
            <a:solidFill>
              <a:srgbClr val="283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99708" y="1911096"/>
            <a:ext cx="654627" cy="36576"/>
          </a:xfrm>
          <a:prstGeom prst="roundRect">
            <a:avLst/>
          </a:prstGeom>
          <a:solidFill>
            <a:srgbClr val="283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nglish Interface" title="English Interface"/>
          <p:cNvPicPr>
            <a:picLocks noChangeAspect="1"/>
          </p:cNvPicPr>
          <p:nvPr/>
        </p:nvPicPr>
        <p:blipFill>
          <a:blip r:embed="rId3"/>
          <a:stretch>
            <a:fillRect/>
          </a:stretch>
        </p:blipFill>
        <p:spPr>
          <a:xfrm>
            <a:off x="3291840" y="1965960"/>
            <a:ext cx="1870363" cy="4114800"/>
          </a:xfrm>
          <a:prstGeom prst="rect">
            <a:avLst/>
          </a:prstGeom>
        </p:spPr>
      </p:pic>
      <p:sp>
        <p:nvSpPr>
          <p:cNvPr id="11" name="Rounded Rectangle 10" descr="Content card container" title="Content card container"/>
          <p:cNvSpPr/>
          <p:nvPr/>
        </p:nvSpPr>
        <p:spPr>
          <a:xfrm>
            <a:off x="5943600" y="1965960"/>
            <a:ext cx="5486400" cy="411480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148840"/>
            <a:ext cx="4937760" cy="3749040"/>
          </a:xfrm>
          <a:prstGeom prst="rect">
            <a:avLst/>
          </a:prstGeom>
          <a:noFill/>
        </p:spPr>
        <p:txBody>
          <a:bodyPr wrap="square">
            <a:spAutoFit/>
          </a:bodyPr>
          <a:lstStyle/>
          <a:p>
            <a:r>
              <a:rPr sz="2200" b="1">
                <a:solidFill>
                  <a:srgbClr val="18392B"/>
                </a:solidFill>
                <a:latin typeface="Mukta"/>
              </a:rPr>
              <a:t>Zero-Cloud Guarantee
</a:t>
            </a:r>
          </a:p>
          <a:p>
            <a:pPr>
              <a:spcBef>
                <a:spcPts val="1000"/>
              </a:spcBef>
            </a:pPr>
            <a:r>
              <a:rPr sz="1300" b="1">
                <a:solidFill>
                  <a:srgbClr val="18392B"/>
                </a:solidFill>
                <a:latin typeface="Mukta"/>
              </a:rPr>
              <a:t>INTERNET Stripped in Manifest: </a:t>
            </a:r>
            <a:r>
              <a:rPr sz="1200">
                <a:solidFill>
                  <a:srgbClr val="44554C"/>
                </a:solidFill>
                <a:latin typeface="Mukta"/>
              </a:rPr>
              <a:t>android.permission.INTERNET is removed with tools:node="remove" — proven by automated security tests.</a:t>
            </a:r>
          </a:p>
          <a:p>
            <a:pPr>
              <a:spcBef>
                <a:spcPts val="1000"/>
              </a:spcBef>
            </a:pPr>
            <a:r>
              <a:rPr sz="1300" b="1">
                <a:solidFill>
                  <a:srgbClr val="18392B"/>
                </a:solidFill>
                <a:latin typeface="Mukta"/>
              </a:rPr>
              <a:t>Offline Hindi Voice: </a:t>
            </a:r>
            <a:r>
              <a:rPr sz="1200">
                <a:solidFill>
                  <a:srgbClr val="44554C"/>
                </a:solidFill>
                <a:latin typeface="Mukta"/>
              </a:rPr>
              <a:t>Uses Google Android offline TTS Hindi engine installed locally. Zero network queries.</a:t>
            </a:r>
          </a:p>
          <a:p>
            <a:pPr>
              <a:spcBef>
                <a:spcPts val="1000"/>
              </a:spcBef>
            </a:pPr>
            <a:r>
              <a:rPr sz="1300" b="1">
                <a:solidFill>
                  <a:srgbClr val="18392B"/>
                </a:solidFill>
                <a:latin typeface="Mukta"/>
              </a:rPr>
              <a:t>No Face Storage: </a:t>
            </a:r>
            <a:r>
              <a:rPr sz="1200">
                <a:solidFill>
                  <a:srgbClr val="44554C"/>
                </a:solidFill>
                <a:latin typeface="Mukta"/>
              </a:rPr>
              <a:t>Camera frames are analyzed in ephemeral RAM and instantly discarded. Zero image files on disk.</a:t>
            </a:r>
          </a:p>
          <a:p>
            <a:pPr>
              <a:spcBef>
                <a:spcPts val="1000"/>
              </a:spcBef>
            </a:pPr>
            <a:r>
              <a:rPr sz="1300" b="1">
                <a:solidFill>
                  <a:srgbClr val="18392B"/>
                </a:solidFill>
                <a:latin typeface="Mukta"/>
              </a:rPr>
              <a:t>No Account Required: </a:t>
            </a:r>
            <a:r>
              <a:rPr sz="1200">
                <a:solidFill>
                  <a:srgbClr val="44554C"/>
                </a:solidFill>
                <a:latin typeface="Mukta"/>
              </a:rPr>
              <a:t>No driver sign-up, phone binding, or fleet surveillance subscriptions.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B9EE45"/>
                </a:solidFill>
                <a:latin typeface="Mukta"/>
              </a:rPr>
              <a:t>TECHNICAL DEPTH &amp; AUDIT
</a:t>
            </a:r>
            <a:r>
              <a:rPr sz="3200" b="1">
                <a:solidFill>
                  <a:srgbClr val="F4F0E6"/>
                </a:solidFill>
                <a:latin typeface="Mukta"/>
              </a:rPr>
              <a:t>Engineered for resilience: clean architecture and verified audit fixes.</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[11 / 18]</a:t>
            </a:r>
          </a:p>
        </p:txBody>
      </p:sp>
      <p:sp>
        <p:nvSpPr>
          <p:cNvPr id="5" name="Rounded Rectangle 4" descr="Content card container" title="Content card container"/>
          <p:cNvSpPr/>
          <p:nvPr/>
        </p:nvSpPr>
        <p:spPr>
          <a:xfrm>
            <a:off x="731520" y="1783080"/>
            <a:ext cx="1920240" cy="114300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737360" cy="960120"/>
          </a:xfrm>
          <a:prstGeom prst="rect">
            <a:avLst/>
          </a:prstGeom>
          <a:noFill/>
        </p:spPr>
        <p:txBody>
          <a:bodyPr wrap="square">
            <a:spAutoFit/>
          </a:bodyPr>
          <a:lstStyle/>
          <a:p>
            <a:r>
              <a:rPr sz="1500" b="1">
                <a:solidFill>
                  <a:srgbClr val="B9EE45"/>
                </a:solidFill>
                <a:latin typeface="Mukta"/>
              </a:rPr>
              <a:t>CameraX
</a:t>
            </a:r>
            <a:r>
              <a:rPr sz="1100">
                <a:solidFill>
                  <a:srgbClr val="66776E"/>
                </a:solidFill>
                <a:latin typeface="Mukta"/>
              </a:rPr>
              <a:t>KEEP_ONLY_LATEST
Front Camera</a:t>
            </a:r>
          </a:p>
        </p:txBody>
      </p:sp>
      <p:sp>
        <p:nvSpPr>
          <p:cNvPr id="7" name="Rounded Rectangle 6" descr="Content card container" title="Content card container"/>
          <p:cNvSpPr/>
          <p:nvPr/>
        </p:nvSpPr>
        <p:spPr>
          <a:xfrm>
            <a:off x="2926080" y="1783080"/>
            <a:ext cx="1920240" cy="114300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1874519"/>
            <a:ext cx="1737360" cy="960120"/>
          </a:xfrm>
          <a:prstGeom prst="rect">
            <a:avLst/>
          </a:prstGeom>
          <a:noFill/>
        </p:spPr>
        <p:txBody>
          <a:bodyPr wrap="square">
            <a:spAutoFit/>
          </a:bodyPr>
          <a:lstStyle/>
          <a:p>
            <a:r>
              <a:rPr sz="1500" b="1">
                <a:solidFill>
                  <a:srgbClr val="B9EE45"/>
                </a:solidFill>
                <a:latin typeface="Mukta"/>
              </a:rPr>
              <a:t>MediaPipe
</a:t>
            </a:r>
            <a:r>
              <a:rPr sz="1100">
                <a:solidFill>
                  <a:srgbClr val="66776E"/>
                </a:solidFill>
                <a:latin typeface="Mukta"/>
              </a:rPr>
              <a:t>FaceLandmarker
18 ms on CPU</a:t>
            </a:r>
          </a:p>
        </p:txBody>
      </p:sp>
      <p:sp>
        <p:nvSpPr>
          <p:cNvPr id="9" name="Rounded Rectangle 8" descr="Content card container" title="Content card container"/>
          <p:cNvSpPr/>
          <p:nvPr/>
        </p:nvSpPr>
        <p:spPr>
          <a:xfrm>
            <a:off x="5120640" y="1783080"/>
            <a:ext cx="1920240" cy="114300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874519"/>
            <a:ext cx="1737360" cy="960120"/>
          </a:xfrm>
          <a:prstGeom prst="rect">
            <a:avLst/>
          </a:prstGeom>
          <a:noFill/>
        </p:spPr>
        <p:txBody>
          <a:bodyPr wrap="square">
            <a:spAutoFit/>
          </a:bodyPr>
          <a:lstStyle/>
          <a:p>
            <a:r>
              <a:rPr sz="1500" b="1">
                <a:solidFill>
                  <a:srgbClr val="B9EE45"/>
                </a:solidFill>
                <a:latin typeface="Mukta"/>
              </a:rPr>
              <a:t>FatigueEngine
</a:t>
            </a:r>
            <a:r>
              <a:rPr sz="1100">
                <a:solidFill>
                  <a:srgbClr val="66776E"/>
                </a:solidFill>
                <a:latin typeface="Mukta"/>
              </a:rPr>
              <a:t>Pure Kotlin
Zero Android APIs</a:t>
            </a:r>
          </a:p>
        </p:txBody>
      </p:sp>
      <p:sp>
        <p:nvSpPr>
          <p:cNvPr id="11" name="Rounded Rectangle 10" descr="Content card container" title="Content card container"/>
          <p:cNvSpPr/>
          <p:nvPr/>
        </p:nvSpPr>
        <p:spPr>
          <a:xfrm>
            <a:off x="7315200" y="1783080"/>
            <a:ext cx="1920240" cy="114300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1874519"/>
            <a:ext cx="1737360" cy="960120"/>
          </a:xfrm>
          <a:prstGeom prst="rect">
            <a:avLst/>
          </a:prstGeom>
          <a:noFill/>
        </p:spPr>
        <p:txBody>
          <a:bodyPr wrap="square">
            <a:spAutoFit/>
          </a:bodyPr>
          <a:lstStyle/>
          <a:p>
            <a:r>
              <a:rPr sz="1500" b="1">
                <a:solidFill>
                  <a:srgbClr val="B9EE45"/>
                </a:solidFill>
                <a:latin typeface="Mukta"/>
              </a:rPr>
              <a:t>Ladder
</a:t>
            </a:r>
            <a:r>
              <a:rPr sz="1100">
                <a:solidFill>
                  <a:srgbClr val="66776E"/>
                </a:solidFill>
                <a:latin typeface="Mukta"/>
              </a:rPr>
              <a:t>5-Level Logic
Injected Clock</a:t>
            </a:r>
          </a:p>
        </p:txBody>
      </p:sp>
      <p:sp>
        <p:nvSpPr>
          <p:cNvPr id="13" name="Rounded Rectangle 12" descr="Content card container" title="Content card container"/>
          <p:cNvSpPr/>
          <p:nvPr/>
        </p:nvSpPr>
        <p:spPr>
          <a:xfrm>
            <a:off x="9509760" y="1783080"/>
            <a:ext cx="1920240" cy="114300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0" y="1874519"/>
            <a:ext cx="1737360" cy="960120"/>
          </a:xfrm>
          <a:prstGeom prst="rect">
            <a:avLst/>
          </a:prstGeom>
          <a:noFill/>
        </p:spPr>
        <p:txBody>
          <a:bodyPr wrap="square">
            <a:spAutoFit/>
          </a:bodyPr>
          <a:lstStyle/>
          <a:p>
            <a:r>
              <a:rPr sz="1500" b="1">
                <a:solidFill>
                  <a:srgbClr val="B9EE45"/>
                </a:solidFill>
                <a:latin typeface="Mukta"/>
              </a:rPr>
              <a:t>Action Handlers
</a:t>
            </a:r>
            <a:r>
              <a:rPr sz="1100">
                <a:solidFill>
                  <a:srgbClr val="66776E"/>
                </a:solidFill>
                <a:latin typeface="Mukta"/>
              </a:rPr>
              <a:t>TTS / Siren /
SMS / Office PDF</a:t>
            </a:r>
          </a:p>
        </p:txBody>
      </p:sp>
      <p:sp>
        <p:nvSpPr>
          <p:cNvPr id="15" name="Rounded Rectangle 14" descr="Content card container" title="Content card container"/>
          <p:cNvSpPr/>
          <p:nvPr/>
        </p:nvSpPr>
        <p:spPr>
          <a:xfrm>
            <a:off x="731520" y="3154680"/>
            <a:ext cx="5303520" cy="297180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337560"/>
            <a:ext cx="4754880" cy="2606040"/>
          </a:xfrm>
          <a:prstGeom prst="rect">
            <a:avLst/>
          </a:prstGeom>
          <a:noFill/>
        </p:spPr>
        <p:txBody>
          <a:bodyPr wrap="square">
            <a:spAutoFit/>
          </a:bodyPr>
          <a:lstStyle/>
          <a:p>
            <a:r>
              <a:rPr sz="1800" b="1">
                <a:solidFill>
                  <a:srgbClr val="B9EE45"/>
                </a:solidFill>
                <a:latin typeface="Mukta"/>
              </a:rPr>
              <a:t>Independent Code Audit (AUDIT-001)
</a:t>
            </a:r>
          </a:p>
          <a:p>
            <a:pPr>
              <a:spcBef>
                <a:spcPts val="800"/>
              </a:spcBef>
            </a:pPr>
            <a:r>
              <a:rPr sz="1300">
                <a:solidFill>
                  <a:srgbClr val="F4F0E6"/>
                </a:solidFill>
                <a:latin typeface="Mukta"/>
              </a:rPr>
              <a:t>• Vulnerability Found: Mixed time bases between system uptime (frames) and epoch time (engine ticks) caused timing miscalculations.
• Fix Implemented: Injected a single monotonic Clock (elapsedRealtime) across the entire engine.
• Verified with 8 dedicated regression unit tests in AuditRegressionTest.kt.</a:t>
            </a:r>
          </a:p>
        </p:txBody>
      </p:sp>
      <p:sp>
        <p:nvSpPr>
          <p:cNvPr id="17" name="Rounded Rectangle 16" descr="Content card container" title="Content card container"/>
          <p:cNvSpPr/>
          <p:nvPr/>
        </p:nvSpPr>
        <p:spPr>
          <a:xfrm>
            <a:off x="6309360" y="3154680"/>
            <a:ext cx="5120640" cy="297180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337560"/>
            <a:ext cx="4572000" cy="2606040"/>
          </a:xfrm>
          <a:prstGeom prst="rect">
            <a:avLst/>
          </a:prstGeom>
          <a:noFill/>
        </p:spPr>
        <p:txBody>
          <a:bodyPr wrap="square">
            <a:spAutoFit/>
          </a:bodyPr>
          <a:lstStyle/>
          <a:p>
            <a:r>
              <a:rPr sz="1800" b="1">
                <a:solidFill>
                  <a:srgbClr val="B9EE45"/>
                </a:solidFill>
                <a:latin typeface="Mukta"/>
              </a:rPr>
              <a:t>198 Unit Tests • 0 Failures
</a:t>
            </a:r>
          </a:p>
          <a:p>
            <a:pPr>
              <a:spcBef>
                <a:spcPts val="800"/>
              </a:spcBef>
            </a:pPr>
            <a:r>
              <a:rPr sz="1300">
                <a:solidFill>
                  <a:srgbClr val="F4F0E6"/>
                </a:solidFill>
                <a:latin typeface="Mukta"/>
              </a:rPr>
              <a:t>• 27 Test Suites covering vision, engine, ladder, SMS, and reports.
• Pure Kotlin engine: runs anywhere without Android emulator dependencies.
• Pipeline UI-Independence: Vision engine is decoupled from Compose Activity, ready to run in an Android Foreground Service.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TRANSPARENCY &amp; ROADMAP
</a:t>
            </a:r>
            <a:r>
              <a:rPr sz="3200" b="1">
                <a:solidFill>
                  <a:srgbClr val="18392B"/>
                </a:solidFill>
                <a:latin typeface="Mukta"/>
              </a:rPr>
              <a:t>Engineering honesty: operational boundaries and what's next.</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[12 / 18]</a:t>
            </a:r>
          </a:p>
        </p:txBody>
      </p:sp>
      <p:sp>
        <p:nvSpPr>
          <p:cNvPr id="5" name="Rounded Rectangle 4" descr="Content card container" title="Content card container"/>
          <p:cNvSpPr/>
          <p:nvPr/>
        </p:nvSpPr>
        <p:spPr>
          <a:xfrm>
            <a:off x="731520" y="1783080"/>
            <a:ext cx="5120640" cy="41605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72000" cy="3749039"/>
          </a:xfrm>
          <a:prstGeom prst="rect">
            <a:avLst/>
          </a:prstGeom>
          <a:noFill/>
        </p:spPr>
        <p:txBody>
          <a:bodyPr wrap="square">
            <a:spAutoFit/>
          </a:bodyPr>
          <a:lstStyle/>
          <a:p>
            <a:r>
              <a:rPr sz="2200" b="1">
                <a:solidFill>
                  <a:srgbClr val="18392B"/>
                </a:solidFill>
                <a:latin typeface="Mukta"/>
              </a:rPr>
              <a:t>Honest Operational Limits
</a:t>
            </a:r>
          </a:p>
          <a:p>
            <a:pPr>
              <a:spcBef>
                <a:spcPts val="800"/>
              </a:spcBef>
            </a:pPr>
            <a:r>
              <a:rPr sz="1300" b="1">
                <a:solidFill>
                  <a:srgbClr val="18392B"/>
                </a:solidFill>
                <a:latin typeface="Mukta"/>
              </a:rPr>
              <a:t>Low Ambient Light: </a:t>
            </a:r>
            <a:r>
              <a:rPr sz="1200">
                <a:solidFill>
                  <a:srgbClr val="44554C"/>
                </a:solidFill>
                <a:latin typeface="Mukta"/>
              </a:rPr>
              <a:t>Relies on phone screen at max brightness (UI-4) as fill light; pitch-black truck cabins require ambient cabin lighting.</a:t>
            </a:r>
          </a:p>
          <a:p>
            <a:pPr>
              <a:spcBef>
                <a:spcPts val="800"/>
              </a:spcBef>
            </a:pPr>
            <a:r>
              <a:rPr sz="1300" b="1">
                <a:solidFill>
                  <a:srgbClr val="18392B"/>
                </a:solidFill>
                <a:latin typeface="Mukta"/>
              </a:rPr>
              <a:t>Dark Sunglasses: </a:t>
            </a:r>
            <a:r>
              <a:rPr sz="1200">
                <a:solidFill>
                  <a:srgbClr val="44554C"/>
                </a:solidFill>
                <a:latin typeface="Mukta"/>
              </a:rPr>
              <a:t>Obscures eye landmarks; system gracefully shifts primary reliance to head-droop angle and vocal checkpoints.</a:t>
            </a:r>
          </a:p>
          <a:p>
            <a:pPr>
              <a:spcBef>
                <a:spcPts val="800"/>
              </a:spcBef>
            </a:pPr>
            <a:r>
              <a:rPr sz="1300" b="1">
                <a:solidFill>
                  <a:srgbClr val="18392B"/>
                </a:solidFill>
                <a:latin typeface="Mukta"/>
              </a:rPr>
              <a:t>Extreme Head Angles: </a:t>
            </a:r>
            <a:r>
              <a:rPr sz="1200">
                <a:solidFill>
                  <a:srgbClr val="44554C"/>
                </a:solidFill>
                <a:latin typeface="Mukta"/>
              </a:rPr>
              <a:t>Tracking degrades beyond 30° yaw/roll.</a:t>
            </a:r>
          </a:p>
          <a:p>
            <a:pPr>
              <a:spcBef>
                <a:spcPts val="800"/>
              </a:spcBef>
            </a:pPr>
            <a:r>
              <a:rPr sz="1300" b="1">
                <a:solidFill>
                  <a:srgbClr val="18392B"/>
                </a:solidFill>
                <a:latin typeface="Mukta"/>
              </a:rPr>
              <a:t>Medical Disclaimer: </a:t>
            </a:r>
            <a:r>
              <a:rPr sz="1200">
                <a:solidFill>
                  <a:srgbClr val="44554C"/>
                </a:solidFill>
                <a:latin typeface="Mukta"/>
              </a:rPr>
              <a:t>Jaagrit estimates alertness heuristically — it does not claim medical diagnosis or guarantee accident immunity.</a:t>
            </a:r>
          </a:p>
        </p:txBody>
      </p:sp>
      <p:sp>
        <p:nvSpPr>
          <p:cNvPr id="7" name="Rounded Rectangle 6" descr="Content card container" title="Content card container"/>
          <p:cNvSpPr/>
          <p:nvPr/>
        </p:nvSpPr>
        <p:spPr>
          <a:xfrm>
            <a:off x="6217920" y="1783080"/>
            <a:ext cx="5212080" cy="41605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63440" cy="3749039"/>
          </a:xfrm>
          <a:prstGeom prst="rect">
            <a:avLst/>
          </a:prstGeom>
          <a:noFill/>
        </p:spPr>
        <p:txBody>
          <a:bodyPr wrap="square">
            <a:spAutoFit/>
          </a:bodyPr>
          <a:lstStyle/>
          <a:p>
            <a:r>
              <a:rPr sz="2200" b="1">
                <a:solidFill>
                  <a:srgbClr val="18392B"/>
                </a:solidFill>
                <a:latin typeface="Mukta"/>
              </a:rPr>
              <a:t>The Roadmap Ahead
</a:t>
            </a:r>
          </a:p>
          <a:p>
            <a:pPr>
              <a:spcBef>
                <a:spcPts val="1200"/>
              </a:spcBef>
            </a:pPr>
            <a:r>
              <a:rPr sz="1300" b="1">
                <a:solidFill>
                  <a:srgbClr val="18392B"/>
                </a:solidFill>
                <a:latin typeface="Mukta"/>
              </a:rPr>
              <a:t>Android Foreground Service: </a:t>
            </a:r>
            <a:r>
              <a:rPr sz="1200">
                <a:solidFill>
                  <a:srgbClr val="44554C"/>
                </a:solidFill>
                <a:latin typeface="Mukta"/>
              </a:rPr>
              <a:t>Move the decoupled vision pipeline to a background foreground service to support split-screen Google Maps navigation.</a:t>
            </a:r>
          </a:p>
          <a:p>
            <a:pPr>
              <a:spcBef>
                <a:spcPts val="1200"/>
              </a:spcBef>
            </a:pPr>
            <a:r>
              <a:rPr sz="1300" b="1">
                <a:solidFill>
                  <a:srgbClr val="18392B"/>
                </a:solidFill>
                <a:latin typeface="Mukta"/>
              </a:rPr>
              <a:t>Dual-Camera Support: </a:t>
            </a:r>
            <a:r>
              <a:rPr sz="1200">
                <a:solidFill>
                  <a:srgbClr val="44554C"/>
                </a:solidFill>
                <a:latin typeface="Mukta"/>
              </a:rPr>
              <a:t>Integrate rear camera for road-lane departure detection alongside driver facial monitoring.</a:t>
            </a:r>
          </a:p>
          <a:p>
            <a:pPr>
              <a:spcBef>
                <a:spcPts val="1200"/>
              </a:spcBef>
            </a:pPr>
            <a:r>
              <a:rPr sz="1300" b="1">
                <a:solidFill>
                  <a:srgbClr val="18392B"/>
                </a:solidFill>
                <a:latin typeface="Mukta"/>
              </a:rPr>
              <a:t>Two-Way Office Kit Depot Sync: </a:t>
            </a:r>
            <a:r>
              <a:rPr sz="1200">
                <a:solidFill>
                  <a:srgbClr val="44554C"/>
                </a:solidFill>
                <a:latin typeface="Mukta"/>
              </a:rPr>
              <a:t>Automatic check-in report push to depot dispatcher laptops over local Wi-Fi pairing.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[13 / 18]</a:t>
            </a:r>
          </a:p>
        </p:txBody>
      </p:sp>
      <p:sp>
        <p:nvSpPr>
          <p:cNvPr id="4" name="TextBox 3"/>
          <p:cNvSpPr txBox="1"/>
          <p:nvPr/>
        </p:nvSpPr>
        <p:spPr>
          <a:xfrm>
            <a:off x="1371600" y="1051560"/>
            <a:ext cx="9418320" cy="3291840"/>
          </a:xfrm>
          <a:prstGeom prst="rect">
            <a:avLst/>
          </a:prstGeom>
          <a:noFill/>
        </p:spPr>
        <p:txBody>
          <a:bodyPr wrap="square">
            <a:spAutoFit/>
          </a:bodyPr>
          <a:lstStyle/>
          <a:p>
            <a:pPr algn="ctr"/>
            <a:r>
              <a:rPr sz="5600" b="1">
                <a:solidFill>
                  <a:srgbClr val="F4F0E6"/>
                </a:solidFill>
                <a:latin typeface="Mukta"/>
              </a:rPr>
              <a:t>JAAGRIT / जागृत
</a:t>
            </a:r>
            <a:r>
              <a:rPr sz="3400" b="1">
                <a:solidFill>
                  <a:srgbClr val="B9EE45"/>
                </a:solidFill>
                <a:latin typeface="Mukta"/>
              </a:rPr>
              <a:t>Stay alert. Drive safe.
</a:t>
            </a:r>
          </a:p>
          <a:p>
            <a:pPr algn="ctr">
              <a:spcBef>
                <a:spcPts val="1400"/>
              </a:spcBef>
            </a:pPr>
            <a:r>
              <a:rPr sz="1800">
                <a:solidFill>
                  <a:srgbClr val="F4F0E6"/>
                </a:solidFill>
                <a:latin typeface="Mukta"/>
              </a:rPr>
              <a:t>Commercial drivers are the backbone of India's economy.
They deserve protection on the phone they already own.</a:t>
            </a:r>
          </a:p>
          <a:p>
            <a:pPr algn="ctr">
              <a:spcBef>
                <a:spcPts val="1800"/>
              </a:spcBef>
            </a:pPr>
            <a:r>
              <a:rPr sz="1500" b="1">
                <a:solidFill>
                  <a:srgbClr val="B9EE45"/>
                </a:solidFill>
                <a:latin typeface="Mukta"/>
              </a:rPr>
              <a:t>18 ms Vision Engine  •  5-Stage Graduated Ladder  •  100% Offline &amp; Private</a:t>
            </a:r>
          </a:p>
        </p:txBody>
      </p:sp>
      <p:sp>
        <p:nvSpPr>
          <p:cNvPr id="5" name="Rounded Rectangle 4" descr="Content card container" title="Content card container"/>
          <p:cNvSpPr/>
          <p:nvPr/>
        </p:nvSpPr>
        <p:spPr>
          <a:xfrm>
            <a:off x="3108960" y="4526280"/>
            <a:ext cx="5971032" cy="141732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4617720"/>
            <a:ext cx="5788152" cy="1234440"/>
          </a:xfrm>
          <a:prstGeom prst="rect">
            <a:avLst/>
          </a:prstGeom>
          <a:noFill/>
        </p:spPr>
        <p:txBody>
          <a:bodyPr wrap="square" lIns="0" tIns="0" rIns="0" bIns="0">
            <a:spAutoFit/>
          </a:bodyPr>
          <a:lstStyle/>
          <a:p>
            <a:pPr algn="ctr"/>
            <a:r>
              <a:rPr sz="1200" b="1">
                <a:solidFill>
                  <a:srgbClr val="B9EE45"/>
                </a:solidFill>
                <a:latin typeface="Mukta"/>
              </a:rPr>
              <a:t>OPEN REPOSITORY &amp; LIVE PHONE DEMO</a:t>
            </a:r>
          </a:p>
          <a:p>
            <a:pPr algn="ctr">
              <a:spcBef>
                <a:spcPts val="400"/>
              </a:spcBef>
            </a:pPr>
            <a:r>
              <a:rPr sz="1800" b="1">
                <a:solidFill>
                  <a:srgbClr val="F4F0E6"/>
                </a:solidFill>
                <a:latin typeface="Mukta"/>
              </a:rPr>
              <a:t>github.com/eka1357/Jaagrit</a:t>
            </a:r>
          </a:p>
          <a:p>
            <a:pPr algn="ctr">
              <a:spcBef>
                <a:spcPts val="400"/>
              </a:spcBef>
            </a:pPr>
            <a:r>
              <a:rPr sz="1100">
                <a:solidFill>
                  <a:srgbClr val="66776E"/>
                </a:solidFill>
                <a:latin typeface="Mukta"/>
              </a:rPr>
              <a:t>iQOO 15 (Snapdragon 8 Elite)  •  Direct APK  •  Office Kit Mirror Ready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Q&amp;A DEFENSE
</a:t>
            </a:r>
            <a:r>
              <a:rPr sz="3000" b="1">
                <a:solidFill>
                  <a:srgbClr val="18392B"/>
                </a:solidFill>
                <a:latin typeface="Mukta"/>
              </a:rPr>
              <a:t>Appendix: Detection accuracy under hostile edge conditions.</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[A14 / 18]</a:t>
            </a:r>
          </a:p>
        </p:txBody>
      </p:sp>
      <p:sp>
        <p:nvSpPr>
          <p:cNvPr id="5" name="Rounded Rectangle 4" descr="Content card container" title="Content card container"/>
          <p:cNvSpPr/>
          <p:nvPr/>
        </p:nvSpPr>
        <p:spPr>
          <a:xfrm>
            <a:off x="731520" y="178308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92808"/>
            <a:ext cx="10149840" cy="731520"/>
          </a:xfrm>
          <a:prstGeom prst="rect">
            <a:avLst/>
          </a:prstGeom>
          <a:noFill/>
        </p:spPr>
        <p:txBody>
          <a:bodyPr wrap="square">
            <a:spAutoFit/>
          </a:bodyPr>
          <a:lstStyle/>
          <a:p>
            <a:r>
              <a:rPr sz="1500" b="1">
                <a:solidFill>
                  <a:srgbClr val="18392B"/>
                </a:solidFill>
                <a:latin typeface="Mukta"/>
              </a:rPr>
              <a:t>Spectacles &amp; Glare: </a:t>
            </a:r>
            <a:r>
              <a:rPr sz="1300">
                <a:solidFill>
                  <a:srgbClr val="44554C"/>
                </a:solidFill>
                <a:latin typeface="Mukta"/>
              </a:rPr>
              <a:t>Tested with clear glasses. Isotropic pixel-space EAR preserves a 5.6x separation gap. Personal calibration absorbs lens refractions into the driver's custom baseline.</a:t>
            </a:r>
          </a:p>
        </p:txBody>
      </p:sp>
      <p:sp>
        <p:nvSpPr>
          <p:cNvPr id="7" name="Rounded Rectangle 6" descr="Content card container" title="Content card container"/>
          <p:cNvSpPr/>
          <p:nvPr/>
        </p:nvSpPr>
        <p:spPr>
          <a:xfrm>
            <a:off x="731520" y="288036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90088"/>
            <a:ext cx="10149840" cy="731520"/>
          </a:xfrm>
          <a:prstGeom prst="rect">
            <a:avLst/>
          </a:prstGeom>
          <a:noFill/>
        </p:spPr>
        <p:txBody>
          <a:bodyPr wrap="square">
            <a:spAutoFit/>
          </a:bodyPr>
          <a:lstStyle/>
          <a:p>
            <a:r>
              <a:rPr sz="1500" b="1">
                <a:solidFill>
                  <a:srgbClr val="18392B"/>
                </a:solidFill>
                <a:latin typeface="Mukta"/>
              </a:rPr>
              <a:t>Night &amp; Dim Cabins: </a:t>
            </a:r>
            <a:r>
              <a:rPr sz="1300">
                <a:solidFill>
                  <a:srgbClr val="44554C"/>
                </a:solidFill>
                <a:latin typeface="Mukta"/>
              </a:rPr>
              <a:t>The app enforces maximum display brightness (UI-4) and keeps the screen on, utilizing the phone display as an active fill-light for the driver's face.</a:t>
            </a:r>
          </a:p>
        </p:txBody>
      </p:sp>
      <p:sp>
        <p:nvSpPr>
          <p:cNvPr id="9" name="Rounded Rectangle 8" descr="Content card container" title="Content card container"/>
          <p:cNvSpPr/>
          <p:nvPr/>
        </p:nvSpPr>
        <p:spPr>
          <a:xfrm>
            <a:off x="731520" y="397764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87368"/>
            <a:ext cx="10149840" cy="731520"/>
          </a:xfrm>
          <a:prstGeom prst="rect">
            <a:avLst/>
          </a:prstGeom>
          <a:noFill/>
        </p:spPr>
        <p:txBody>
          <a:bodyPr wrap="square">
            <a:spAutoFit/>
          </a:bodyPr>
          <a:lstStyle/>
          <a:p>
            <a:r>
              <a:rPr sz="1500" b="1">
                <a:solidFill>
                  <a:srgbClr val="18392B"/>
                </a:solidFill>
                <a:latin typeface="Mukta"/>
              </a:rPr>
              <a:t>Road Vibration &amp; Shaking: </a:t>
            </a:r>
            <a:r>
              <a:rPr sz="1300">
                <a:solidFill>
                  <a:srgbClr val="44554C"/>
                </a:solidFill>
                <a:latin typeface="Mukta"/>
              </a:rPr>
              <a:t>MediaPipe FaceLandmarker operates at 24.8 FPS in live-stream mode with face-loss glitch tolerance of 300 ms, preventing momentary bumps from corrupting closure timers.</a:t>
            </a:r>
          </a:p>
        </p:txBody>
      </p:sp>
      <p:sp>
        <p:nvSpPr>
          <p:cNvPr id="11" name="Rounded Rectangle 10" descr="Content card container" title="Content card container"/>
          <p:cNvSpPr/>
          <p:nvPr/>
        </p:nvSpPr>
        <p:spPr>
          <a:xfrm>
            <a:off x="731520" y="507492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84648"/>
            <a:ext cx="10149840" cy="731520"/>
          </a:xfrm>
          <a:prstGeom prst="rect">
            <a:avLst/>
          </a:prstGeom>
          <a:noFill/>
        </p:spPr>
        <p:txBody>
          <a:bodyPr wrap="square">
            <a:spAutoFit/>
          </a:bodyPr>
          <a:lstStyle/>
          <a:p>
            <a:r>
              <a:rPr sz="1500" b="1">
                <a:solidFill>
                  <a:srgbClr val="18392B"/>
                </a:solidFill>
                <a:latin typeface="Mukta"/>
              </a:rPr>
              <a:t>Mirror Glances vs True Nods: </a:t>
            </a:r>
            <a:r>
              <a:rPr sz="1300">
                <a:solidFill>
                  <a:srgbClr val="44554C"/>
                </a:solidFill>
                <a:latin typeface="Mukta"/>
              </a:rPr>
              <a:t>Head-pitch droop threshold is calculated relative to calibrated neutral dashboard tilt (7–9°), avoiding false triggers during routine mirror checks.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B9EE45"/>
                </a:solidFill>
                <a:latin typeface="Mukta"/>
              </a:rPr>
              <a:t>Q&amp;A DEFENSE
</a:t>
            </a:r>
            <a:r>
              <a:rPr sz="3000" b="1">
                <a:solidFill>
                  <a:srgbClr val="F4F0E6"/>
                </a:solidFill>
                <a:latin typeface="Mukta"/>
              </a:rPr>
              <a:t>Appendix: Why an uncompromising on-device architecture?</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[A15 / 18]</a:t>
            </a:r>
          </a:p>
        </p:txBody>
      </p:sp>
      <p:sp>
        <p:nvSpPr>
          <p:cNvPr id="5" name="Rounded Rectangle 4" descr="Content card container" title="Content card container"/>
          <p:cNvSpPr/>
          <p:nvPr/>
        </p:nvSpPr>
        <p:spPr>
          <a:xfrm>
            <a:off x="731520" y="1783080"/>
            <a:ext cx="10728655" cy="96012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92808"/>
            <a:ext cx="10149840" cy="731520"/>
          </a:xfrm>
          <a:prstGeom prst="rect">
            <a:avLst/>
          </a:prstGeom>
          <a:noFill/>
        </p:spPr>
        <p:txBody>
          <a:bodyPr wrap="square">
            <a:spAutoFit/>
          </a:bodyPr>
          <a:lstStyle/>
          <a:p>
            <a:r>
              <a:rPr sz="1500" b="1">
                <a:solidFill>
                  <a:srgbClr val="B9EE45"/>
                </a:solidFill>
                <a:latin typeface="Mukta"/>
              </a:rPr>
              <a:t>Deterministic Sub-500 ms Latency: </a:t>
            </a:r>
            <a:r>
              <a:rPr sz="1300">
                <a:solidFill>
                  <a:srgbClr val="F4F0E6"/>
                </a:solidFill>
                <a:latin typeface="Mukta"/>
              </a:rPr>
              <a:t>Highway safety cannot tolerate cloud API round-trips. Analyzing frames locally on the Snapdragon 8 Elite guarantees instant 18 ms decisions.</a:t>
            </a:r>
          </a:p>
        </p:txBody>
      </p:sp>
      <p:sp>
        <p:nvSpPr>
          <p:cNvPr id="7" name="Rounded Rectangle 6" descr="Content card container" title="Content card container"/>
          <p:cNvSpPr/>
          <p:nvPr/>
        </p:nvSpPr>
        <p:spPr>
          <a:xfrm>
            <a:off x="731520" y="2880360"/>
            <a:ext cx="10728655" cy="96012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90088"/>
            <a:ext cx="10149840" cy="731520"/>
          </a:xfrm>
          <a:prstGeom prst="rect">
            <a:avLst/>
          </a:prstGeom>
          <a:noFill/>
        </p:spPr>
        <p:txBody>
          <a:bodyPr wrap="square">
            <a:spAutoFit/>
          </a:bodyPr>
          <a:lstStyle/>
          <a:p>
            <a:r>
              <a:rPr sz="1500" b="1">
                <a:solidFill>
                  <a:srgbClr val="B9EE45"/>
                </a:solidFill>
                <a:latin typeface="Mukta"/>
              </a:rPr>
              <a:t>Highway Cellular Blackspots: </a:t>
            </a:r>
            <a:r>
              <a:rPr sz="1300">
                <a:solidFill>
                  <a:srgbClr val="F4F0E6"/>
                </a:solidFill>
                <a:latin typeface="Mukta"/>
              </a:rPr>
              <a:t>Thousands of kilometers of Indian national highways lack reliable 4G/5G data. A safety app that stops working in tunnels or ghats is lethal.</a:t>
            </a:r>
          </a:p>
        </p:txBody>
      </p:sp>
      <p:sp>
        <p:nvSpPr>
          <p:cNvPr id="9" name="Rounded Rectangle 8" descr="Content card container" title="Content card container"/>
          <p:cNvSpPr/>
          <p:nvPr/>
        </p:nvSpPr>
        <p:spPr>
          <a:xfrm>
            <a:off x="731520" y="3977640"/>
            <a:ext cx="10728655" cy="96012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87368"/>
            <a:ext cx="10149840" cy="731520"/>
          </a:xfrm>
          <a:prstGeom prst="rect">
            <a:avLst/>
          </a:prstGeom>
          <a:noFill/>
        </p:spPr>
        <p:txBody>
          <a:bodyPr wrap="square">
            <a:spAutoFit/>
          </a:bodyPr>
          <a:lstStyle/>
          <a:p>
            <a:r>
              <a:rPr sz="1500" b="1">
                <a:solidFill>
                  <a:srgbClr val="B9EE45"/>
                </a:solidFill>
                <a:latin typeface="Mukta"/>
              </a:rPr>
              <a:t>Zero Biometric Liability: </a:t>
            </a:r>
            <a:r>
              <a:rPr sz="1300">
                <a:solidFill>
                  <a:srgbClr val="F4F0E6"/>
                </a:solidFill>
                <a:latin typeface="Mukta"/>
              </a:rPr>
              <a:t>Drivers fiercely resist continuous video streaming into employer cloud dashboards. Keeping all computations ephemeral in RAM earns driver adoption.</a:t>
            </a:r>
          </a:p>
        </p:txBody>
      </p:sp>
      <p:sp>
        <p:nvSpPr>
          <p:cNvPr id="11" name="Rounded Rectangle 10" descr="Content card container" title="Content card container"/>
          <p:cNvSpPr/>
          <p:nvPr/>
        </p:nvSpPr>
        <p:spPr>
          <a:xfrm>
            <a:off x="731520" y="5074920"/>
            <a:ext cx="10728655" cy="96012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84648"/>
            <a:ext cx="10149840" cy="731520"/>
          </a:xfrm>
          <a:prstGeom prst="rect">
            <a:avLst/>
          </a:prstGeom>
          <a:noFill/>
        </p:spPr>
        <p:txBody>
          <a:bodyPr wrap="square">
            <a:spAutoFit/>
          </a:bodyPr>
          <a:lstStyle/>
          <a:p>
            <a:r>
              <a:rPr sz="1500" b="1">
                <a:solidFill>
                  <a:srgbClr val="B9EE45"/>
                </a:solidFill>
                <a:latin typeface="Mukta"/>
              </a:rPr>
              <a:t>Zero Cloud Infrastructure Cost: </a:t>
            </a:r>
            <a:r>
              <a:rPr sz="1300">
                <a:solidFill>
                  <a:srgbClr val="F4F0E6"/>
                </a:solidFill>
                <a:latin typeface="Mukta"/>
              </a:rPr>
              <a:t>Scales infinitely across millions of commercial vehicles without running massive GPU inference clusters or monthly cloud bills.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Q&amp;A DEFENSE
</a:t>
            </a:r>
            <a:r>
              <a:rPr sz="3000" b="1">
                <a:solidFill>
                  <a:srgbClr val="18392B"/>
                </a:solidFill>
                <a:latin typeface="Mukta"/>
              </a:rPr>
              <a:t>Appendix: Defending against driver distraction and cognitive load.</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[A16 / 18]</a:t>
            </a:r>
          </a:p>
        </p:txBody>
      </p:sp>
      <p:sp>
        <p:nvSpPr>
          <p:cNvPr id="5" name="Rounded Rectangle 4" descr="Content card container" title="Content card container"/>
          <p:cNvSpPr/>
          <p:nvPr/>
        </p:nvSpPr>
        <p:spPr>
          <a:xfrm>
            <a:off x="731520" y="178308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92808"/>
            <a:ext cx="10149840" cy="731520"/>
          </a:xfrm>
          <a:prstGeom prst="rect">
            <a:avLst/>
          </a:prstGeom>
          <a:noFill/>
        </p:spPr>
        <p:txBody>
          <a:bodyPr wrap="square">
            <a:spAutoFit/>
          </a:bodyPr>
          <a:lstStyle/>
          <a:p>
            <a:r>
              <a:rPr sz="1500" b="1">
                <a:solidFill>
                  <a:srgbClr val="18392B"/>
                </a:solidFill>
                <a:latin typeface="Mukta"/>
              </a:rPr>
              <a:t>Silence During Normal Driving: </a:t>
            </a:r>
            <a:r>
              <a:rPr sz="1300">
                <a:solidFill>
                  <a:srgbClr val="44554C"/>
                </a:solidFill>
                <a:latin typeface="Mukta"/>
              </a:rPr>
              <a:t>The companion never speaks during normal alert driving (L0). It intervenes strictly when biological fatigue metrics cross cautionary bands.</a:t>
            </a:r>
          </a:p>
        </p:txBody>
      </p:sp>
      <p:sp>
        <p:nvSpPr>
          <p:cNvPr id="7" name="Rounded Rectangle 6" descr="Content card container" title="Content card container"/>
          <p:cNvSpPr/>
          <p:nvPr/>
        </p:nvSpPr>
        <p:spPr>
          <a:xfrm>
            <a:off x="731520" y="288036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90088"/>
            <a:ext cx="10149840" cy="731520"/>
          </a:xfrm>
          <a:prstGeom prst="rect">
            <a:avLst/>
          </a:prstGeom>
          <a:noFill/>
        </p:spPr>
        <p:txBody>
          <a:bodyPr wrap="square">
            <a:spAutoFit/>
          </a:bodyPr>
          <a:lstStyle/>
          <a:p>
            <a:r>
              <a:rPr sz="1500" b="1">
                <a:solidFill>
                  <a:srgbClr val="18392B"/>
                </a:solidFill>
                <a:latin typeface="Mukta"/>
              </a:rPr>
              <a:t>Strict Microphone Isolation During Sirens: </a:t>
            </a:r>
            <a:r>
              <a:rPr sz="1300">
                <a:solidFill>
                  <a:srgbClr val="44554C"/>
                </a:solidFill>
                <a:latin typeface="Mukta"/>
              </a:rPr>
              <a:t>During Level 3, 4, and 5 alarms, the microphone is blocked. This eliminates acoustic siren echo and driver speech recognition failures.</a:t>
            </a:r>
          </a:p>
        </p:txBody>
      </p:sp>
      <p:sp>
        <p:nvSpPr>
          <p:cNvPr id="9" name="Rounded Rectangle 8" descr="Content card container" title="Content card container"/>
          <p:cNvSpPr/>
          <p:nvPr/>
        </p:nvSpPr>
        <p:spPr>
          <a:xfrm>
            <a:off x="731520" y="397764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87368"/>
            <a:ext cx="10149840" cy="731520"/>
          </a:xfrm>
          <a:prstGeom prst="rect">
            <a:avLst/>
          </a:prstGeom>
          <a:noFill/>
        </p:spPr>
        <p:txBody>
          <a:bodyPr wrap="square">
            <a:spAutoFit/>
          </a:bodyPr>
          <a:lstStyle/>
          <a:p>
            <a:r>
              <a:rPr sz="1500" b="1">
                <a:solidFill>
                  <a:srgbClr val="18392B"/>
                </a:solidFill>
                <a:latin typeface="Mukta"/>
              </a:rPr>
              <a:t>One-Word Immediate Silencing: </a:t>
            </a:r>
            <a:r>
              <a:rPr sz="1300">
                <a:solidFill>
                  <a:srgbClr val="44554C"/>
                </a:solidFill>
                <a:latin typeface="Mukta"/>
              </a:rPr>
              <a:t>The driver can speak "chup raho" or tap anywhere to silence conversational check-ins for 2 minutes without disabling passive eye monitoring.</a:t>
            </a:r>
          </a:p>
        </p:txBody>
      </p:sp>
      <p:sp>
        <p:nvSpPr>
          <p:cNvPr id="11" name="Rounded Rectangle 10" descr="Content card container" title="Content card container"/>
          <p:cNvSpPr/>
          <p:nvPr/>
        </p:nvSpPr>
        <p:spPr>
          <a:xfrm>
            <a:off x="731520" y="5074920"/>
            <a:ext cx="10728655" cy="96012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84648"/>
            <a:ext cx="10149840" cy="731520"/>
          </a:xfrm>
          <a:prstGeom prst="rect">
            <a:avLst/>
          </a:prstGeom>
          <a:noFill/>
        </p:spPr>
        <p:txBody>
          <a:bodyPr wrap="square">
            <a:spAutoFit/>
          </a:bodyPr>
          <a:lstStyle/>
          <a:p>
            <a:r>
              <a:rPr sz="1500" b="1">
                <a:solidFill>
                  <a:srgbClr val="18392B"/>
                </a:solidFill>
                <a:latin typeface="Mukta"/>
              </a:rPr>
              <a:t>Glanceable Minimal UI: </a:t>
            </a:r>
            <a:r>
              <a:rPr sz="1300">
                <a:solidFill>
                  <a:srgbClr val="44554C"/>
                </a:solidFill>
                <a:latin typeface="Mukta"/>
              </a:rPr>
              <a:t>The driver UI features only a high-contrast state numeral and color word. No telemetry graphs or complex dials compete for eye gaze.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0A1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B9EE45"/>
                </a:solidFill>
                <a:latin typeface="Mukta"/>
              </a:rPr>
              <a:t>Q&amp;A DEFENSE
</a:t>
            </a:r>
            <a:r>
              <a:rPr sz="3000" b="1">
                <a:solidFill>
                  <a:srgbClr val="F4F0E6"/>
                </a:solidFill>
                <a:latin typeface="Mukta"/>
              </a:rPr>
              <a:t>Appendix: Adapting for two-wheelers, helmets, and vehicle types.</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B9EE45"/>
                </a:solidFill>
                <a:latin typeface="Mukta"/>
              </a:rPr>
              <a:t>            [A17 / 18]</a:t>
            </a:r>
          </a:p>
        </p:txBody>
      </p:sp>
      <p:sp>
        <p:nvSpPr>
          <p:cNvPr id="5" name="Rounded Rectangle 4" descr="Content card container" title="Content card container"/>
          <p:cNvSpPr/>
          <p:nvPr/>
        </p:nvSpPr>
        <p:spPr>
          <a:xfrm>
            <a:off x="731520" y="1828800"/>
            <a:ext cx="10728655" cy="123444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93392"/>
            <a:ext cx="10149840" cy="868680"/>
          </a:xfrm>
          <a:prstGeom prst="rect">
            <a:avLst/>
          </a:prstGeom>
          <a:noFill/>
        </p:spPr>
        <p:txBody>
          <a:bodyPr wrap="square">
            <a:spAutoFit/>
          </a:bodyPr>
          <a:lstStyle/>
          <a:p>
            <a:r>
              <a:rPr sz="1700" b="1">
                <a:solidFill>
                  <a:srgbClr val="B9EE45"/>
                </a:solidFill>
                <a:latin typeface="Mukta"/>
              </a:rPr>
              <a:t>Commercial Cabs, Buses &amp; Trucks (Primary)
</a:t>
            </a:r>
          </a:p>
          <a:p>
            <a:pPr>
              <a:spcBef>
                <a:spcPts val="400"/>
              </a:spcBef>
            </a:pPr>
            <a:r>
              <a:rPr sz="1300">
                <a:solidFill>
                  <a:srgbClr val="F4F0E6"/>
                </a:solidFill>
                <a:latin typeface="Mukta"/>
              </a:rPr>
              <a:t>Optimal environment: phone sits firmly in a dashboard cradle 40–80 cm from the driver at windshield height, capturing full facial mesh.</a:t>
            </a:r>
          </a:p>
        </p:txBody>
      </p:sp>
      <p:sp>
        <p:nvSpPr>
          <p:cNvPr id="7" name="Rounded Rectangle 6" descr="Content card container" title="Content card container"/>
          <p:cNvSpPr/>
          <p:nvPr/>
        </p:nvSpPr>
        <p:spPr>
          <a:xfrm>
            <a:off x="731520" y="3200400"/>
            <a:ext cx="10728655" cy="123444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364992"/>
            <a:ext cx="10149840" cy="868680"/>
          </a:xfrm>
          <a:prstGeom prst="rect">
            <a:avLst/>
          </a:prstGeom>
          <a:noFill/>
        </p:spPr>
        <p:txBody>
          <a:bodyPr wrap="square">
            <a:spAutoFit/>
          </a:bodyPr>
          <a:lstStyle/>
          <a:p>
            <a:r>
              <a:rPr sz="1700" b="1">
                <a:solidFill>
                  <a:srgbClr val="B9EE45"/>
                </a:solidFill>
                <a:latin typeface="Mukta"/>
              </a:rPr>
              <a:t>Two-Wheeler Visor Challenges
</a:t>
            </a:r>
          </a:p>
          <a:p>
            <a:pPr>
              <a:spcBef>
                <a:spcPts val="400"/>
              </a:spcBef>
            </a:pPr>
            <a:r>
              <a:rPr sz="1300">
                <a:solidFill>
                  <a:srgbClr val="F4F0E6"/>
                </a:solidFill>
                <a:latin typeface="Mukta"/>
              </a:rPr>
              <a:t>Full-face helmets with tinted visors block eye landmark extraction. Jaagrit's architecture falls back gracefully to head posture pitch and vocal response latency.</a:t>
            </a:r>
          </a:p>
        </p:txBody>
      </p:sp>
      <p:sp>
        <p:nvSpPr>
          <p:cNvPr id="9" name="Rounded Rectangle 8" descr="Content card container" title="Content card container"/>
          <p:cNvSpPr/>
          <p:nvPr/>
        </p:nvSpPr>
        <p:spPr>
          <a:xfrm>
            <a:off x="731520" y="4572000"/>
            <a:ext cx="10728655" cy="1234440"/>
          </a:xfrm>
          <a:prstGeom prst="roundRect">
            <a:avLst/>
          </a:prstGeom>
          <a:solidFill>
            <a:srgbClr val="13221B"/>
          </a:solidFill>
          <a:ln w="19050">
            <a:solidFill>
              <a:srgbClr val="284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736592"/>
            <a:ext cx="10149840" cy="868680"/>
          </a:xfrm>
          <a:prstGeom prst="rect">
            <a:avLst/>
          </a:prstGeom>
          <a:noFill/>
        </p:spPr>
        <p:txBody>
          <a:bodyPr wrap="square">
            <a:spAutoFit/>
          </a:bodyPr>
          <a:lstStyle/>
          <a:p>
            <a:r>
              <a:rPr sz="1700" b="1">
                <a:solidFill>
                  <a:srgbClr val="B9EE45"/>
                </a:solidFill>
                <a:latin typeface="Mukta"/>
              </a:rPr>
              <a:t>Extreme Road Vibrations
</a:t>
            </a:r>
          </a:p>
          <a:p>
            <a:pPr>
              <a:spcBef>
                <a:spcPts val="400"/>
              </a:spcBef>
            </a:pPr>
            <a:r>
              <a:rPr sz="1300">
                <a:solidFill>
                  <a:srgbClr val="F4F0E6"/>
                </a:solidFill>
                <a:latin typeface="Mukta"/>
              </a:rPr>
              <a:t>Motorcycle handlebar mounts impart severe vibrations; our frame glitch filter ignores brief landmark drops (&lt;300 ms) to prevent accidental triggers.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Slide background" title="Slide background"/>
          <p:cNvSpPr/>
          <p:nvPr/>
        </p:nvSpPr>
        <p:spPr>
          <a:xfrm>
            <a:off x="0" y="0"/>
            <a:ext cx="12191695" cy="6858000"/>
          </a:xfrm>
          <a:prstGeom prst="rect">
            <a:avLst/>
          </a:prstGeom>
          <a:solidFill>
            <a:srgbClr val="F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200"/>
              </a:spcAft>
            </a:pPr>
            <a:r>
              <a:rPr sz="1300" b="1">
                <a:solidFill>
                  <a:srgbClr val="18392B"/>
                </a:solidFill>
                <a:latin typeface="Mukta"/>
              </a:rPr>
              <a:t>Q&amp;A DEFENSE
</a:t>
            </a:r>
            <a:r>
              <a:rPr sz="3000" b="1">
                <a:solidFill>
                  <a:srgbClr val="18392B"/>
                </a:solidFill>
                <a:latin typeface="Mukta"/>
              </a:rPr>
              <a:t>Appendix: Graceful degradation without SIM or cellular signal.</a:t>
            </a:r>
          </a:p>
        </p:txBody>
      </p:sp>
      <p:sp>
        <p:nvSpPr>
          <p:cNvPr id="4" name="TextBox 3"/>
          <p:cNvSpPr txBox="1"/>
          <p:nvPr/>
        </p:nvSpPr>
        <p:spPr>
          <a:xfrm>
            <a:off x="731520" y="6309360"/>
            <a:ext cx="10728655" cy="365760"/>
          </a:xfrm>
          <a:prstGeom prst="rect">
            <a:avLst/>
          </a:prstGeom>
          <a:noFill/>
        </p:spPr>
        <p:txBody>
          <a:bodyPr wrap="none" lIns="0" tIns="0" rIns="0" bIns="0">
            <a:spAutoFit/>
          </a:bodyPr>
          <a:lstStyle/>
          <a:p>
            <a:r>
              <a:rPr sz="1100">
                <a:solidFill>
                  <a:srgbClr val="66776E"/>
                </a:solidFill>
                <a:latin typeface="Mukta"/>
              </a:rPr>
              <a:t>JAAGRIT / जागृत  •  iQOO 15 (Snapdragon 8 Elite)  •  100% Offline</a:t>
            </a:r>
            <a:r>
              <a:rPr sz="1100" b="1">
                <a:solidFill>
                  <a:srgbClr val="18392B"/>
                </a:solidFill>
                <a:latin typeface="Mukta"/>
              </a:rPr>
              <a:t>            [A18 / 18]</a:t>
            </a:r>
          </a:p>
        </p:txBody>
      </p:sp>
      <p:sp>
        <p:nvSpPr>
          <p:cNvPr id="5" name="Rounded Rectangle 4" descr="Content card container" title="Content card container"/>
          <p:cNvSpPr/>
          <p:nvPr/>
        </p:nvSpPr>
        <p:spPr>
          <a:xfrm>
            <a:off x="731520" y="1828800"/>
            <a:ext cx="10728655" cy="123444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93392"/>
            <a:ext cx="10149840" cy="868680"/>
          </a:xfrm>
          <a:prstGeom prst="rect">
            <a:avLst/>
          </a:prstGeom>
          <a:noFill/>
        </p:spPr>
        <p:txBody>
          <a:bodyPr wrap="square">
            <a:spAutoFit/>
          </a:bodyPr>
          <a:lstStyle/>
          <a:p>
            <a:r>
              <a:rPr sz="1700" b="1">
                <a:solidFill>
                  <a:srgbClr val="18392B"/>
                </a:solidFill>
                <a:latin typeface="Mukta"/>
              </a:rPr>
              <a:t>Pre-Drive Readiness Honesty
</a:t>
            </a:r>
          </a:p>
          <a:p>
            <a:pPr>
              <a:spcBef>
                <a:spcPts val="400"/>
              </a:spcBef>
            </a:pPr>
            <a:r>
              <a:rPr sz="1300">
                <a:solidFill>
                  <a:srgbClr val="44554C"/>
                </a:solidFill>
                <a:latin typeface="Mukta"/>
              </a:rPr>
              <a:t>Live screenshot proof: When no SIM card is present or airplane mode is enabled, the Home screen checklist flags 'no SIM card' with clear yellow status.</a:t>
            </a:r>
          </a:p>
        </p:txBody>
      </p:sp>
      <p:sp>
        <p:nvSpPr>
          <p:cNvPr id="7" name="Rounded Rectangle 6" descr="Content card container" title="Content card container"/>
          <p:cNvSpPr/>
          <p:nvPr/>
        </p:nvSpPr>
        <p:spPr>
          <a:xfrm>
            <a:off x="731520" y="3200400"/>
            <a:ext cx="10728655" cy="123444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364992"/>
            <a:ext cx="10149840" cy="868680"/>
          </a:xfrm>
          <a:prstGeom prst="rect">
            <a:avLst/>
          </a:prstGeom>
          <a:noFill/>
        </p:spPr>
        <p:txBody>
          <a:bodyPr wrap="square">
            <a:spAutoFit/>
          </a:bodyPr>
          <a:lstStyle/>
          <a:p>
            <a:r>
              <a:rPr sz="1700" b="1">
                <a:solidFill>
                  <a:srgbClr val="18392B"/>
                </a:solidFill>
                <a:latin typeface="Mukta"/>
              </a:rPr>
              <a:t>Core Safety Functions Remain 100% Active
</a:t>
            </a:r>
          </a:p>
          <a:p>
            <a:pPr>
              <a:spcBef>
                <a:spcPts val="400"/>
              </a:spcBef>
            </a:pPr>
            <a:r>
              <a:rPr sz="1300">
                <a:solidFill>
                  <a:srgbClr val="44554C"/>
                </a:solidFill>
                <a:latin typeface="Mukta"/>
              </a:rPr>
              <a:t>Emergency SMS is strictly an auxiliary Level 5 backup. Levels 1 through 4 (TTS voice, generated siren tone, family clip, vibration) operate entirely offline without radio.</a:t>
            </a:r>
          </a:p>
        </p:txBody>
      </p:sp>
      <p:sp>
        <p:nvSpPr>
          <p:cNvPr id="9" name="Rounded Rectangle 8" descr="Content card container" title="Content card container"/>
          <p:cNvSpPr/>
          <p:nvPr/>
        </p:nvSpPr>
        <p:spPr>
          <a:xfrm>
            <a:off x="731520" y="4572000"/>
            <a:ext cx="10728655" cy="1234440"/>
          </a:xfrm>
          <a:prstGeom prst="roundRect">
            <a:avLst/>
          </a:prstGeom>
          <a:solidFill>
            <a:srgbClr val="FFFFFF"/>
          </a:solidFill>
          <a:ln w="19050">
            <a:solidFill>
              <a:srgbClr val="E8E1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736592"/>
            <a:ext cx="10149840" cy="868680"/>
          </a:xfrm>
          <a:prstGeom prst="rect">
            <a:avLst/>
          </a:prstGeom>
          <a:noFill/>
        </p:spPr>
        <p:txBody>
          <a:bodyPr wrap="square">
            <a:spAutoFit/>
          </a:bodyPr>
          <a:lstStyle/>
          <a:p>
            <a:r>
              <a:rPr sz="1700" b="1">
                <a:solidFill>
                  <a:srgbClr val="18392B"/>
                </a:solidFill>
                <a:latin typeface="Mukta"/>
              </a:rPr>
              <a:t>Crash-Proof Telephony Layer
</a:t>
            </a:r>
          </a:p>
          <a:p>
            <a:pPr>
              <a:spcBef>
                <a:spcPts val="400"/>
              </a:spcBef>
            </a:pPr>
            <a:r>
              <a:rPr sz="1300">
                <a:solidFill>
                  <a:srgbClr val="44554C"/>
                </a:solidFill>
                <a:latin typeface="Mukta"/>
              </a:rPr>
              <a:t>The SMS dispatcher handles missing permissions, airplane mode, and carrier transmission failures gracefully without throwing unhandled exceptions.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